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7"/>
  </p:notesMasterIdLst>
  <p:handoutMasterIdLst>
    <p:handoutMasterId r:id="rId8"/>
  </p:handoutMasterIdLst>
  <p:sldIdLst>
    <p:sldId id="542" r:id="rId2"/>
    <p:sldId id="544" r:id="rId3"/>
    <p:sldId id="545" r:id="rId4"/>
    <p:sldId id="546" r:id="rId5"/>
    <p:sldId id="547" r:id="rId6"/>
  </p:sldIdLst>
  <p:sldSz cx="9144000" cy="5143500" type="screen16x9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B050"/>
    <a:srgbClr val="FF0909"/>
    <a:srgbClr val="FF0000"/>
    <a:srgbClr val="4472C4"/>
    <a:srgbClr val="C5E0B4"/>
    <a:srgbClr val="2F528F"/>
    <a:srgbClr val="000000"/>
    <a:srgbClr val="2E75B6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21" autoAdjust="0"/>
    <p:restoredTop sz="95383" autoAdjust="0"/>
  </p:normalViewPr>
  <p:slideViewPr>
    <p:cSldViewPr>
      <p:cViewPr>
        <p:scale>
          <a:sx n="100" d="100"/>
          <a:sy n="100" d="100"/>
        </p:scale>
        <p:origin x="-1061" y="-466"/>
      </p:cViewPr>
      <p:guideLst>
        <p:guide orient="horz" pos="2160"/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44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5984C-A4EF-194D-9A36-44511C5545FA}" type="datetimeFigureOut">
              <a:rPr kumimoji="1" lang="zh-TW" altLang="en-US" smtClean="0"/>
              <a:t>2026/2/24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06954-EC81-234C-A609-B73BDC8399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347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9B3F7-D2E3-4DB9-A28B-8CA26004AF2F}" type="datetimeFigureOut">
              <a:rPr lang="zh-TW" altLang="en-US" smtClean="0"/>
              <a:t>2026/2/24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4769-8042-4CDB-B5AF-ED545880C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47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395536" y="789553"/>
            <a:ext cx="4100264" cy="3843170"/>
          </a:xfrm>
        </p:spPr>
        <p:txBody>
          <a:bodyPr/>
          <a:lstStyle>
            <a:lvl1pPr marL="273050" indent="-26511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sz="half" idx="13" hasCustomPrompt="1"/>
          </p:nvPr>
        </p:nvSpPr>
        <p:spPr>
          <a:xfrm>
            <a:off x="4434781" y="789553"/>
            <a:ext cx="4100264" cy="3843170"/>
          </a:xfrm>
        </p:spPr>
        <p:txBody>
          <a:bodyPr/>
          <a:lstStyle>
            <a:lvl1pPr marL="273050" indent="-26511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6597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/>
            </a:lvl1pPr>
          </a:lstStyle>
          <a:p>
            <a:endParaRPr kumimoji="1"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idx="1" hasCustomPrompt="1"/>
          </p:nvPr>
        </p:nvSpPr>
        <p:spPr>
          <a:xfrm>
            <a:off x="395536" y="789553"/>
            <a:ext cx="8119814" cy="384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1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88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clude th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7" y="249492"/>
            <a:ext cx="3184277" cy="864096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 marL="257175" indent="-257175">
              <a:buClr>
                <a:schemeClr val="accent5"/>
              </a:buClr>
              <a:buFont typeface="Arial"/>
              <a:buChar char="•"/>
              <a:tabLst/>
              <a:defRPr sz="3200"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 sz="2800" baseline="0"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 sz="2400" baseline="0"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95537" y="1167594"/>
            <a:ext cx="3184277" cy="32341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244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the title of th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707904" y="740569"/>
            <a:ext cx="4809034" cy="3655219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95537" y="249492"/>
            <a:ext cx="3184277" cy="864096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95537" y="1167594"/>
            <a:ext cx="3184277" cy="32341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72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 userDrawn="1"/>
        </p:nvSpPr>
        <p:spPr>
          <a:xfrm>
            <a:off x="5969000" y="46355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 dirty="0" smtClean="0">
                <a:solidFill>
                  <a:srgbClr val="808080"/>
                </a:solidFill>
              </a:rPr>
              <a:t>ASE Confidential / Security-C</a:t>
            </a:r>
            <a:endParaRPr lang="zh-TW" altLang="en-US" sz="1200" dirty="0">
              <a:solidFill>
                <a:srgbClr val="80808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1403648" y="2931790"/>
            <a:ext cx="3816424" cy="158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None/>
              <a:defRPr sz="1800" b="0" i="0" baseline="0">
                <a:solidFill>
                  <a:schemeClr val="bg1">
                    <a:lumMod val="65000"/>
                  </a:schemeClr>
                </a:solidFill>
                <a:latin typeface="+mn-lt"/>
                <a:cs typeface="Microsoft JhengHei"/>
              </a:defRPr>
            </a:lvl1pPr>
          </a:lstStyle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de-DE" altLang="zh-TW" sz="1800" dirty="0">
                <a:latin typeface="Calibri" charset="0"/>
                <a:ea typeface="微軟正黑體" charset="-120"/>
                <a:cs typeface="Calibri" charset="0"/>
              </a:rPr>
              <a:t>NAME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de-DE" altLang="zh-TW" sz="1800" dirty="0">
                <a:latin typeface="Calibri" charset="0"/>
                <a:ea typeface="微軟正黑體" charset="-120"/>
                <a:cs typeface="Calibri" charset="0"/>
              </a:rPr>
              <a:t>Job Title</a:t>
            </a:r>
            <a:endParaRPr lang="en-US" altLang="zh-TW" sz="1800" dirty="0">
              <a:latin typeface="Calibri" charset="0"/>
              <a:ea typeface="微軟正黑體" charset="-120"/>
              <a:cs typeface="Calibri" charset="0"/>
            </a:endParaRP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Department Name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Company Name 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Apr. 7, 2017</a:t>
            </a:r>
          </a:p>
        </p:txBody>
      </p:sp>
      <p:sp>
        <p:nvSpPr>
          <p:cNvPr id="2" name="文字方塊 1"/>
          <p:cNvSpPr txBox="1"/>
          <p:nvPr userDrawn="1"/>
        </p:nvSpPr>
        <p:spPr>
          <a:xfrm>
            <a:off x="1828801" y="6337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1403648" y="1059582"/>
            <a:ext cx="4968552" cy="1656184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微軟正黑體" charset="-120"/>
                <a:cs typeface="Calibri" charset="0"/>
              </a:rPr>
              <a:t>ASE Corporate Profile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37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287" cy="51435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7504" y="59126"/>
            <a:ext cx="8119814" cy="4076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kumimoji="1"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536" y="789553"/>
            <a:ext cx="8119814" cy="384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9" name="Slide Number Placeholder 4"/>
          <p:cNvSpPr txBox="1">
            <a:spLocks/>
          </p:cNvSpPr>
          <p:nvPr/>
        </p:nvSpPr>
        <p:spPr>
          <a:xfrm>
            <a:off x="8388424" y="4740736"/>
            <a:ext cx="648072" cy="36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000" b="0" i="0" kern="1200" baseline="0">
                <a:solidFill>
                  <a:srgbClr val="A0A1A4"/>
                </a:solidFill>
                <a:latin typeface="+mj-lt"/>
                <a:ea typeface="+mn-ea"/>
                <a:cs typeface="Noto Sans CJK TC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2719F-92A1-4FFE-81FF-B45F661B4D21}" type="slidenum">
              <a:rPr lang="zh-TW" altLang="en-US" sz="900" smtClean="0">
                <a:solidFill>
                  <a:srgbClr val="D2D3D4"/>
                </a:solidFill>
                <a:latin typeface="Calibri"/>
              </a:rPr>
              <a:pPr/>
              <a:t>‹#›</a:t>
            </a:fld>
            <a:r>
              <a:rPr lang="en-US" altLang="zh-TW" sz="1200" dirty="0">
                <a:solidFill>
                  <a:srgbClr val="D2D3D4"/>
                </a:solidFill>
                <a:latin typeface="Calibri"/>
              </a:rPr>
              <a:t> </a:t>
            </a:r>
            <a:endParaRPr lang="zh-TW" altLang="en-US" sz="1200" dirty="0">
              <a:solidFill>
                <a:srgbClr val="D2D3D4"/>
              </a:solidFill>
              <a:latin typeface="Calibri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56176" y="4686404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100" dirty="0" smtClean="0">
                <a:solidFill>
                  <a:srgbClr val="808080"/>
                </a:solidFill>
              </a:rPr>
              <a:t>ASE Confidential / Security-C</a:t>
            </a:r>
            <a:endParaRPr lang="zh-TW" altLang="en-US" sz="1100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7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95" r:id="rId3"/>
    <p:sldLayoutId id="2147483697" r:id="rId4"/>
    <p:sldLayoutId id="2147483698" r:id="rId5"/>
    <p:sldLayoutId id="2147483700" r:id="rId6"/>
    <p:sldLayoutId id="2147483726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baseline="0">
          <a:solidFill>
            <a:schemeClr val="tx1"/>
          </a:solidFill>
          <a:latin typeface="+mn-lt"/>
          <a:ea typeface="微軟正黑體" charset="-120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en-US" altLang="zh-TW" sz="1400" dirty="0" smtClean="0">
                <a:latin typeface="+mn-ea"/>
                <a:ea typeface="+mn-ea"/>
              </a:rPr>
              <a:t>2025</a:t>
            </a:r>
            <a:r>
              <a:rPr lang="zh-TW" altLang="en-US" sz="1400" dirty="0" smtClean="0">
                <a:latin typeface="+mn-ea"/>
                <a:ea typeface="+mn-ea"/>
              </a:rPr>
              <a:t>困難</a:t>
            </a:r>
            <a:r>
              <a:rPr lang="zh-TW" altLang="en-US" sz="1400" dirty="0" smtClean="0">
                <a:latin typeface="+mn-ea"/>
                <a:ea typeface="+mn-ea"/>
              </a:rPr>
              <a:t>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W49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latin typeface="+mn-ea"/>
              </a:rPr>
              <a:t>1.</a:t>
            </a:r>
            <a:r>
              <a:rPr lang="zh-TW" altLang="en-US" b="1" dirty="0" smtClean="0">
                <a:latin typeface="+mn-ea"/>
              </a:rPr>
              <a:t>新增上傳圖片功能</a:t>
            </a:r>
            <a:r>
              <a:rPr lang="en-US" altLang="zh-TW" b="1" dirty="0" smtClean="0">
                <a:latin typeface="+mn-ea"/>
              </a:rPr>
              <a:t>(JPG</a:t>
            </a:r>
            <a:r>
              <a:rPr lang="zh-TW" altLang="en-US" b="1" dirty="0" smtClean="0">
                <a:latin typeface="+mn-ea"/>
              </a:rPr>
              <a:t>、</a:t>
            </a:r>
            <a:r>
              <a:rPr lang="en-US" altLang="zh-TW" b="1" dirty="0" smtClean="0">
                <a:latin typeface="+mn-ea"/>
              </a:rPr>
              <a:t>PNG)</a:t>
            </a:r>
            <a:r>
              <a:rPr lang="zh-TW" altLang="en-US" b="1" dirty="0" smtClean="0">
                <a:latin typeface="+mn-ea"/>
              </a:rPr>
              <a:t>，不限制檔案數量。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2.</a:t>
            </a:r>
            <a:r>
              <a:rPr lang="zh-TW" altLang="en-US" b="1" dirty="0" smtClean="0">
                <a:latin typeface="+mn-ea"/>
              </a:rPr>
              <a:t>提案人提案後狀態在</a:t>
            </a:r>
            <a:r>
              <a:rPr lang="en-US" altLang="zh-TW" b="1" dirty="0" smtClean="0">
                <a:latin typeface="+mn-ea"/>
              </a:rPr>
              <a:t>New</a:t>
            </a:r>
            <a:r>
              <a:rPr lang="zh-TW" altLang="en-US" b="1" dirty="0" smtClean="0">
                <a:latin typeface="+mn-ea"/>
              </a:rPr>
              <a:t>時都還可變更內容</a:t>
            </a:r>
            <a:r>
              <a:rPr lang="zh-TW" altLang="en-US" b="1" dirty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3.</a:t>
            </a:r>
            <a:r>
              <a:rPr lang="zh-TW" altLang="en-US" b="1" dirty="0" smtClean="0">
                <a:latin typeface="+mn-ea"/>
              </a:rPr>
              <a:t>新增問題回饋，可否設計在進度紀錄欄位，可篩選要在首頁看到哪個類別。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4.</a:t>
            </a:r>
            <a:r>
              <a:rPr lang="zh-TW" altLang="en-US" b="1" dirty="0" smtClean="0">
                <a:latin typeface="+mn-ea"/>
              </a:rPr>
              <a:t>新增狀態 </a:t>
            </a:r>
            <a:r>
              <a:rPr lang="en-US" altLang="zh-TW" b="1" dirty="0" smtClean="0">
                <a:latin typeface="+mn-ea"/>
              </a:rPr>
              <a:t>Over time</a:t>
            </a:r>
            <a:r>
              <a:rPr lang="zh-TW" altLang="en-US" b="1" dirty="0" smtClean="0">
                <a:latin typeface="+mn-ea"/>
              </a:rPr>
              <a:t> ，並且計數</a:t>
            </a:r>
            <a:r>
              <a:rPr lang="zh-TW" altLang="en-US" b="1" dirty="0">
                <a:latin typeface="+mn-ea"/>
              </a:rPr>
              <a:t>距</a:t>
            </a:r>
            <a:r>
              <a:rPr lang="zh-TW" altLang="en-US" b="1" dirty="0" smtClean="0">
                <a:latin typeface="+mn-ea"/>
              </a:rPr>
              <a:t>今，</a:t>
            </a:r>
            <a:r>
              <a:rPr lang="en-US" altLang="zh-TW" b="1" dirty="0" smtClean="0">
                <a:latin typeface="+mn-ea"/>
              </a:rPr>
              <a:t>Pending</a:t>
            </a:r>
            <a:r>
              <a:rPr lang="zh-TW" altLang="en-US" b="1" dirty="0" smtClean="0">
                <a:latin typeface="+mn-ea"/>
              </a:rPr>
              <a:t>恢復計數。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5.</a:t>
            </a:r>
            <a:r>
              <a:rPr lang="zh-TW" altLang="en-US" b="1" dirty="0" smtClean="0">
                <a:latin typeface="+mn-ea"/>
              </a:rPr>
              <a:t>圖表 新增</a:t>
            </a:r>
            <a:r>
              <a:rPr lang="zh-TW" altLang="en-US" b="1" dirty="0">
                <a:latin typeface="+mn-ea"/>
              </a:rPr>
              <a:t>一</a:t>
            </a:r>
            <a:r>
              <a:rPr lang="zh-TW" altLang="en-US" b="1" dirty="0" smtClean="0">
                <a:latin typeface="+mn-ea"/>
              </a:rPr>
              <a:t>圖表 </a:t>
            </a:r>
            <a:r>
              <a:rPr lang="en-US" altLang="zh-TW" b="1" dirty="0" smtClean="0">
                <a:latin typeface="+mn-ea"/>
              </a:rPr>
              <a:t>x</a:t>
            </a:r>
            <a:r>
              <a:rPr lang="zh-TW" altLang="en-US" b="1" dirty="0" smtClean="0">
                <a:latin typeface="+mn-ea"/>
              </a:rPr>
              <a:t>向負責人 </a:t>
            </a:r>
            <a:r>
              <a:rPr lang="en-US" altLang="zh-TW" b="1" dirty="0" smtClean="0">
                <a:latin typeface="+mn-ea"/>
              </a:rPr>
              <a:t>y</a:t>
            </a:r>
            <a:r>
              <a:rPr lang="zh-TW" altLang="en-US" b="1" dirty="0" smtClean="0">
                <a:latin typeface="+mn-ea"/>
              </a:rPr>
              <a:t>向拒今天數，可篩選</a:t>
            </a:r>
            <a:r>
              <a:rPr lang="en-US" altLang="zh-TW" b="1" dirty="0" smtClean="0">
                <a:latin typeface="+mn-ea"/>
              </a:rPr>
              <a:t>On Going</a:t>
            </a:r>
            <a:r>
              <a:rPr lang="zh-TW" altLang="en-US" b="1" dirty="0" smtClean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 </a:t>
            </a:r>
            <a:r>
              <a:rPr lang="en-US" altLang="zh-TW" b="1" dirty="0" smtClean="0">
                <a:latin typeface="+mn-ea"/>
              </a:rPr>
              <a:t>Pending</a:t>
            </a:r>
            <a:r>
              <a:rPr lang="zh-TW" altLang="en-US" b="1" dirty="0" smtClean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6.</a:t>
            </a:r>
            <a:r>
              <a:rPr lang="zh-TW" altLang="en-US" b="1" dirty="0" smtClean="0">
                <a:latin typeface="+mn-ea"/>
              </a:rPr>
              <a:t>下載</a:t>
            </a:r>
            <a:r>
              <a:rPr lang="en-US" altLang="zh-TW" b="1" dirty="0">
                <a:latin typeface="+mn-ea"/>
              </a:rPr>
              <a:t>.</a:t>
            </a:r>
            <a:r>
              <a:rPr lang="en-US" altLang="zh-TW" b="1" dirty="0" smtClean="0">
                <a:latin typeface="+mn-ea"/>
              </a:rPr>
              <a:t>xlsx</a:t>
            </a:r>
            <a:r>
              <a:rPr lang="zh-TW" altLang="en-US" b="1" dirty="0" smtClean="0">
                <a:latin typeface="+mn-ea"/>
              </a:rPr>
              <a:t> 顏色 → 結案：綠色、執行中：黃色、待執行：紅色、新提案：橘色 。</a:t>
            </a:r>
            <a:endParaRPr lang="en-US" altLang="zh-TW" b="1" dirty="0" smtClean="0">
              <a:latin typeface="+mn-ea"/>
            </a:endParaRPr>
          </a:p>
          <a:p>
            <a:r>
              <a:rPr lang="zh-TW" altLang="en-US" b="1" dirty="0" smtClean="0">
                <a:latin typeface="+mn-ea"/>
              </a:rPr>
              <a:t>    問題描述</a:t>
            </a:r>
            <a:r>
              <a:rPr lang="zh-TW" altLang="en-US" b="1" dirty="0">
                <a:latin typeface="+mn-ea"/>
              </a:rPr>
              <a:t>、進度</a:t>
            </a:r>
            <a:r>
              <a:rPr lang="zh-TW" altLang="en-US" b="1" dirty="0" smtClean="0">
                <a:latin typeface="+mn-ea"/>
              </a:rPr>
              <a:t>紀錄 </a:t>
            </a:r>
            <a:r>
              <a:rPr lang="zh-TW" altLang="en-US" b="1" dirty="0">
                <a:latin typeface="+mn-ea"/>
              </a:rPr>
              <a:t>斷</a:t>
            </a:r>
            <a:r>
              <a:rPr lang="zh-TW" altLang="en-US" b="1" dirty="0" smtClean="0">
                <a:latin typeface="+mn-ea"/>
              </a:rPr>
              <a:t>行</a:t>
            </a:r>
            <a:r>
              <a:rPr lang="en-US" altLang="zh-TW" b="1" dirty="0" smtClean="0">
                <a:latin typeface="+mn-ea"/>
              </a:rPr>
              <a:t>?</a:t>
            </a:r>
            <a:r>
              <a:rPr lang="zh-TW" altLang="en-US" b="1" dirty="0" smtClean="0">
                <a:latin typeface="+mn-ea"/>
              </a:rPr>
              <a:t>設定行距</a:t>
            </a:r>
            <a:r>
              <a:rPr lang="en-US" altLang="zh-TW" b="1" dirty="0" smtClean="0">
                <a:latin typeface="+mn-ea"/>
              </a:rPr>
              <a:t>?</a:t>
            </a:r>
            <a:r>
              <a:rPr lang="zh-TW" altLang="en-US" b="1" dirty="0" smtClean="0">
                <a:latin typeface="新細明體"/>
                <a:ea typeface="新細明體"/>
              </a:rPr>
              <a:t>。</a:t>
            </a:r>
            <a:endParaRPr lang="en-US" altLang="zh-TW" b="1" dirty="0">
              <a:latin typeface="+mn-ea"/>
            </a:endParaRPr>
          </a:p>
          <a:p>
            <a:r>
              <a:rPr lang="zh-TW" altLang="en-US" dirty="0" smtClean="0"/>
              <a:t> 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372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en-US" altLang="zh-TW" sz="1400" dirty="0" smtClean="0">
                <a:latin typeface="+mn-ea"/>
                <a:ea typeface="+mn-ea"/>
              </a:rPr>
              <a:t>2025</a:t>
            </a:r>
            <a:r>
              <a:rPr lang="zh-TW" altLang="en-US" sz="1400" dirty="0" smtClean="0">
                <a:latin typeface="+mn-ea"/>
                <a:ea typeface="+mn-ea"/>
              </a:rPr>
              <a:t>困難</a:t>
            </a:r>
            <a:r>
              <a:rPr lang="zh-TW" altLang="en-US" sz="1400" dirty="0" smtClean="0">
                <a:latin typeface="+mn-ea"/>
                <a:ea typeface="+mn-ea"/>
              </a:rPr>
              <a:t>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W50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1.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新增總攬圖表規則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 計數時只有當周是浮動值，過往資料需固定，時間點就在每周六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0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點更新。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2.</a:t>
            </a:r>
            <a:r>
              <a:rPr lang="zh-TW" altLang="en-US" b="1" dirty="0">
                <a:latin typeface="+mn-ea"/>
              </a:rPr>
              <a:t>總攬</a:t>
            </a:r>
            <a:r>
              <a:rPr lang="zh-TW" altLang="en-US" b="1" dirty="0" smtClean="0">
                <a:latin typeface="+mn-ea"/>
              </a:rPr>
              <a:t>圖表棒狀頂峰顯示數值。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3.Closed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狀態是否可區分當週與過往。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4.</a:t>
            </a:r>
            <a:r>
              <a:rPr lang="zh-TW" altLang="en-US" b="1" dirty="0" smtClean="0">
                <a:latin typeface="+mn-ea"/>
              </a:rPr>
              <a:t>系統首頁是否可提示有</a:t>
            </a:r>
            <a:r>
              <a:rPr lang="zh-TW" altLang="en-US" b="1" dirty="0">
                <a:latin typeface="+mn-ea"/>
              </a:rPr>
              <a:t>新增</a:t>
            </a:r>
            <a:r>
              <a:rPr lang="zh-TW" altLang="en-US" b="1" dirty="0" smtClean="0">
                <a:latin typeface="+mn-ea"/>
              </a:rPr>
              <a:t>留言</a:t>
            </a:r>
            <a:r>
              <a:rPr lang="zh-TW" altLang="en-US" b="1" dirty="0" smtClean="0">
                <a:latin typeface="新細明體"/>
                <a:ea typeface="新細明體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5.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新增兩個輸入變數，計算效益供管理員使用。此項目要修改 先不用做</a:t>
            </a:r>
            <a:endParaRPr lang="en-US" altLang="zh-TW" b="1" dirty="0" smtClean="0">
              <a:solidFill>
                <a:schemeClr val="bg1">
                  <a:lumMod val="75000"/>
                </a:schemeClr>
              </a:solidFill>
              <a:latin typeface="+mn-ea"/>
            </a:endParaRPr>
          </a:p>
          <a:p>
            <a:endParaRPr lang="en-US" altLang="zh-TW" b="1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109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zh-TW" altLang="en-US" sz="1400" dirty="0" smtClean="0">
                <a:latin typeface="+mn-ea"/>
                <a:ea typeface="+mn-ea"/>
              </a:rPr>
              <a:t>困難點會議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W52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latin typeface="+mn-ea"/>
              </a:rPr>
              <a:t>1.</a:t>
            </a:r>
            <a:r>
              <a:rPr lang="zh-TW" altLang="en-US" b="1" dirty="0" smtClean="0">
                <a:latin typeface="+mn-ea"/>
              </a:rPr>
              <a:t>案件分類新增 </a:t>
            </a:r>
            <a:r>
              <a:rPr lang="zh-TW" altLang="en-US" b="1" dirty="0">
                <a:latin typeface="+mn-ea"/>
              </a:rPr>
              <a:t>日常 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2.</a:t>
            </a:r>
            <a:r>
              <a:rPr lang="zh-TW" altLang="en-US" b="1" dirty="0">
                <a:latin typeface="+mn-ea"/>
              </a:rPr>
              <a:t>首頁的 項次、距今 預設改成隱藏  </a:t>
            </a:r>
          </a:p>
          <a:p>
            <a:r>
              <a:rPr lang="zh-TW" altLang="en-US" b="1" dirty="0" smtClean="0">
                <a:latin typeface="+mn-ea"/>
              </a:rPr>
              <a:t>   將</a:t>
            </a:r>
            <a:r>
              <a:rPr lang="zh-TW" altLang="en-US" b="1" dirty="0">
                <a:latin typeface="+mn-ea"/>
              </a:rPr>
              <a:t>專案 </a:t>
            </a:r>
            <a:r>
              <a:rPr lang="en-US" altLang="zh-TW" b="1" dirty="0">
                <a:latin typeface="+mn-ea"/>
              </a:rPr>
              <a:t>Owner </a:t>
            </a:r>
            <a:r>
              <a:rPr lang="zh-TW" altLang="en-US" b="1" dirty="0">
                <a:latin typeface="+mn-ea"/>
              </a:rPr>
              <a:t>預設</a:t>
            </a:r>
            <a:r>
              <a:rPr lang="zh-TW" altLang="en-US" b="1" dirty="0" smtClean="0">
                <a:latin typeface="+mn-ea"/>
              </a:rPr>
              <a:t>開啟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3.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留言 標記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人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@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關注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可能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?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9885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en-US" altLang="zh-TW" sz="1400" dirty="0" smtClean="0">
                <a:latin typeface="+mn-ea"/>
                <a:ea typeface="+mn-ea"/>
              </a:rPr>
              <a:t>2026 </a:t>
            </a:r>
            <a:r>
              <a:rPr lang="zh-TW" altLang="en-US" sz="1400" dirty="0" smtClean="0">
                <a:latin typeface="+mn-ea"/>
                <a:ea typeface="+mn-ea"/>
              </a:rPr>
              <a:t>困難點會議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W09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1.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該案件中提到得人都能收到變更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通知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。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提案人</a:t>
            </a:r>
            <a:r>
              <a:rPr lang="zh-TW" altLang="en-US" b="1" dirty="0" smtClean="0">
                <a:solidFill>
                  <a:srgbClr val="FF0000"/>
                </a:solidFill>
                <a:latin typeface="新細明體"/>
                <a:ea typeface="新細明體"/>
              </a:rPr>
              <a:t>、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Owner</a:t>
            </a:r>
            <a:r>
              <a:rPr lang="zh-TW" altLang="en-US" b="1" dirty="0" smtClean="0">
                <a:solidFill>
                  <a:srgbClr val="FF0000"/>
                </a:solidFill>
                <a:latin typeface="新細明體"/>
                <a:ea typeface="新細明體"/>
              </a:rPr>
              <a:t>、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@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相關人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2.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每一筆提案有各自的網頁連結。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  可設定條件發出信件提醒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截止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日期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: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7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天</a:t>
            </a:r>
            <a:r>
              <a:rPr lang="zh-TW" altLang="en-US" dirty="0" smtClean="0">
                <a:solidFill>
                  <a:srgbClr val="FF0000"/>
                </a:solidFill>
                <a:latin typeface="新細明體"/>
                <a:ea typeface="新細明體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1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天各發一次信件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    ex:</a:t>
            </a: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3.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案件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分類移除 軟體、硬體，改成下圖類別並加入效益公式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。</a:t>
            </a:r>
            <a:endParaRPr lang="en-US" altLang="zh-TW" dirty="0" smtClean="0">
              <a:solidFill>
                <a:srgbClr val="FF0000"/>
              </a:solidFill>
              <a:latin typeface="+mn-ea"/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   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選擇後增加欄位 效益值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25" y="1491630"/>
            <a:ext cx="4136715" cy="13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021515"/>
              </p:ext>
            </p:extLst>
          </p:nvPr>
        </p:nvGraphicFramePr>
        <p:xfrm>
          <a:off x="467544" y="3338451"/>
          <a:ext cx="5232400" cy="12447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12800"/>
                <a:gridCol w="3708400"/>
                <a:gridCol w="711200"/>
              </a:tblGrid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案件分類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公式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比重排序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工安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處理時間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h)*610(</a:t>
                      </a:r>
                      <a:r>
                        <a:rPr lang="zh-TW" altLang="en-US" sz="1200" u="none" strike="noStrike" dirty="0">
                          <a:effectLst/>
                        </a:rPr>
                        <a:t>工程師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en-US" sz="1200" u="none" strike="noStrike" dirty="0">
                          <a:effectLst/>
                        </a:rPr>
                        <a:t>h)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品質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zh-TW" altLang="en-US" sz="1200" u="none" strike="noStrike" dirty="0">
                          <a:effectLst/>
                        </a:rPr>
                        <a:t>死貨</a:t>
                      </a:r>
                      <a:r>
                        <a:rPr lang="en-US" altLang="zh-TW" sz="1200" u="none" strike="noStrike" dirty="0">
                          <a:effectLst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處理時間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(h)*610(</a:t>
                      </a:r>
                      <a:r>
                        <a:rPr lang="zh-TW" altLang="en-US" sz="1200" u="none" strike="noStrike" dirty="0">
                          <a:effectLst/>
                        </a:rPr>
                        <a:t>工程師</a:t>
                      </a:r>
                      <a:r>
                        <a:rPr lang="en-US" altLang="zh-TW" sz="1200" u="none" strike="noStrike" dirty="0">
                          <a:effectLst/>
                        </a:rPr>
                        <a:t>1h) + </a:t>
                      </a:r>
                      <a:r>
                        <a:rPr lang="zh-TW" altLang="en-US" sz="1200" u="none" strike="noStrike" dirty="0">
                          <a:effectLst/>
                        </a:rPr>
                        <a:t>產品顆數*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美金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zh-TW" altLang="en-US" sz="1200" u="none" strike="noStrike" dirty="0">
                          <a:effectLst/>
                        </a:rPr>
                        <a:t>單價</a:t>
                      </a:r>
                      <a:r>
                        <a:rPr lang="en-US" altLang="zh-TW" sz="1200" u="none" strike="noStrike" dirty="0">
                          <a:effectLst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2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效率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zh-TW" altLang="en-US" sz="1200" u="none" strike="noStrike" dirty="0">
                          <a:effectLst/>
                        </a:rPr>
                        <a:t>產能</a:t>
                      </a:r>
                      <a:r>
                        <a:rPr lang="en-US" altLang="zh-TW" sz="1200" u="none" strike="noStrike" dirty="0">
                          <a:effectLst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處理時間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(h)*610(</a:t>
                      </a:r>
                      <a:r>
                        <a:rPr lang="zh-TW" altLang="en-US" sz="1200" u="none" strike="noStrike" dirty="0">
                          <a:effectLst/>
                        </a:rPr>
                        <a:t>工程師</a:t>
                      </a:r>
                      <a:r>
                        <a:rPr lang="en-US" altLang="zh-TW" sz="1200" u="none" strike="noStrike" dirty="0">
                          <a:effectLst/>
                        </a:rPr>
                        <a:t>1h) + </a:t>
                      </a:r>
                      <a:r>
                        <a:rPr lang="zh-TW" altLang="en-US" sz="1200" u="none" strike="noStrike" dirty="0">
                          <a:effectLst/>
                        </a:rPr>
                        <a:t>影響產能*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zh-TW" altLang="en-US" sz="1200" u="none" strike="noStrike" dirty="0">
                          <a:effectLst/>
                        </a:rPr>
                        <a:t>美金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zh-TW" altLang="en-US" sz="1200" u="none" strike="noStrike" dirty="0">
                          <a:effectLst/>
                        </a:rPr>
                        <a:t>單價</a:t>
                      </a:r>
                      <a:r>
                        <a:rPr lang="en-US" altLang="zh-TW" sz="1200" u="none" strike="noStrike" dirty="0">
                          <a:effectLst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3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資安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處理時間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h)*610(</a:t>
                      </a:r>
                      <a:r>
                        <a:rPr lang="zh-TW" altLang="en-US" sz="1200" u="none" strike="noStrike" dirty="0">
                          <a:effectLst/>
                        </a:rPr>
                        <a:t>工程師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en-US" sz="1200" u="none" strike="noStrike" dirty="0">
                          <a:effectLst/>
                        </a:rPr>
                        <a:t>h)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4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日常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u="none" strike="noStrike" dirty="0">
                          <a:effectLst/>
                        </a:rPr>
                        <a:t>處理時間</a:t>
                      </a:r>
                      <a:r>
                        <a:rPr lang="en-US" altLang="zh-TW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h)*610(</a:t>
                      </a:r>
                      <a:r>
                        <a:rPr lang="zh-TW" altLang="en-US" sz="1200" u="none" strike="noStrike" dirty="0">
                          <a:effectLst/>
                        </a:rPr>
                        <a:t>工程師</a:t>
                      </a:r>
                      <a:r>
                        <a:rPr lang="en-US" altLang="zh-TW" sz="1200" u="none" strike="noStrike" dirty="0">
                          <a:effectLst/>
                        </a:rPr>
                        <a:t>1</a:t>
                      </a:r>
                      <a:r>
                        <a:rPr lang="en-US" sz="1200" u="none" strike="noStrike" dirty="0">
                          <a:effectLst/>
                        </a:rPr>
                        <a:t>h)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u="none" strike="noStrike" dirty="0">
                          <a:effectLst/>
                        </a:rPr>
                        <a:t>5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209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en-US" altLang="zh-TW" sz="1400" dirty="0" smtClean="0">
                <a:latin typeface="+mn-ea"/>
                <a:ea typeface="+mn-ea"/>
              </a:rPr>
              <a:t>2026 </a:t>
            </a:r>
            <a:r>
              <a:rPr lang="zh-TW" altLang="en-US" sz="1400" dirty="0" smtClean="0">
                <a:latin typeface="+mn-ea"/>
                <a:ea typeface="+mn-ea"/>
              </a:rPr>
              <a:t>困難點會議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W09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+mn-ea"/>
              </a:rPr>
              <a:t>4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.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項目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DueDate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改成 管理人編輯後自動產生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 </a:t>
            </a:r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  工作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　３月</a:t>
            </a:r>
          </a:p>
          <a:p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  專案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　６月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158845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ackgrou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-微軟正黑_英-Calibr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 C</Template>
  <TotalTime>75316</TotalTime>
  <Words>487</Words>
  <Application>Microsoft Office PowerPoint</Application>
  <PresentationFormat>如螢幕大小 (16:9)</PresentationFormat>
  <Paragraphs>68</Paragraphs>
  <Slides>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Light background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</dc:title>
  <dc:creator>amylee</dc:creator>
  <cp:keywords>Security C</cp:keywords>
  <dc:description>Security C</dc:description>
  <cp:lastModifiedBy>蔡宗佑</cp:lastModifiedBy>
  <cp:revision>1123</cp:revision>
  <cp:lastPrinted>2020-04-15T07:09:34Z</cp:lastPrinted>
  <dcterms:created xsi:type="dcterms:W3CDTF">2012-10-17T06:05:49Z</dcterms:created>
  <dcterms:modified xsi:type="dcterms:W3CDTF">2026-02-24T06:53:27Z</dcterms:modified>
</cp:coreProperties>
</file>