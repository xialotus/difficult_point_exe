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0" r:id="rId2"/>
    <p:sldId id="271" r:id="rId3"/>
    <p:sldId id="257" r:id="rId4"/>
    <p:sldId id="258" r:id="rId5"/>
    <p:sldId id="272" r:id="rId6"/>
    <p:sldId id="273" r:id="rId7"/>
    <p:sldId id="274" r:id="rId8"/>
    <p:sldId id="275" r:id="rId9"/>
    <p:sldId id="259" r:id="rId10"/>
    <p:sldId id="260" r:id="rId11"/>
    <p:sldId id="268" r:id="rId12"/>
    <p:sldId id="269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0AB6-62CA-4EB7-967F-AD7C072C9520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DD8F6-82F0-46FC-A7AF-86D878989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5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DD8F6-82F0-46FC-A7AF-86D87898916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43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314A1-DFA2-4D79-A6E8-EE06CE1F6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9C16FB-BCED-BE65-9650-9E4BAE871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97191D-9E25-9DB0-3D04-8F3B6E8C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68E268-D01C-475B-454E-47232D41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4F3F8-0F1C-1D0D-611E-ECE8A9A4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36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D9A632-3E56-74A4-39BB-E1F81CE5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0F6AC-78A8-81FC-FABE-D66894A64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5714B-CADE-A4DD-B572-4FCC61CF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59B702-E10D-21B4-7E5C-C3BF35E3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CCFA39-D83B-2642-F0F9-25E0B7D5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07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36BB9-2B88-E2E3-9AF8-92DDD75E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403520-1064-4DEF-6B6E-4FF2AC211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21DDC3-F1BD-F73B-6C58-E445F9BF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289B1E-6371-246D-26A4-77697C5E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25A38D-67F5-059B-6D8E-9B91CC59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924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DA281-228B-F498-7CE2-7716719B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EC8C84-9523-549D-E087-454DA306E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8E5DE1-9607-3023-1FEB-5C4381C55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1EB258-220C-747C-FC47-3F118829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D3B671-AAC4-3C7B-A92C-96A907F7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932E4B-EC50-CF44-AB9B-26FE5F96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13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53629-3586-A1FD-907D-A62DDF4A5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08771D-2E6A-362E-1BCA-5F190CDF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0ABEB7-BECF-7B73-A042-D1B3E05BC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653F3C1-4D23-E694-3950-DD804B6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7163397-9333-8A46-3CA7-C91CC4A37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F17E476-DE0F-DDF7-DCAB-1ED8F6AE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349A9F-0B0F-4B40-F2A4-0FAE8CCB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A938BF8-8F39-3D35-7E64-C8E0348C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34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837F69-83CD-A737-3589-CE969630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F3B3136-5D36-9A16-82C1-B022D83A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7E39D83-D7B8-009B-7E33-C9B77A535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0BB40BD-DB79-09C9-0F45-9C7BDB71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49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F473E8-44D2-481C-89B4-0EED5B9C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BE31D1-497A-26C7-D6A0-2DCAD658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7AFA74-9049-0C5E-7FD6-32692D34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02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38BE0E-1141-BEC8-B1A5-EF62F5A2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660B19-0C3E-CB27-6FBC-A6FC4958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FC73DA-C947-EC7B-D237-58339A1AA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B2A1F0-6730-6E60-EA74-0340598D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8D11EF-51F9-5789-4D9C-D6C05692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2E36E0-1708-2937-0AB6-5C0AD875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84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B9DCF-A0BB-6FBB-2F79-49812C9D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645EFD4-D8E9-B6DC-7136-E45317572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EAB163-D7A2-AE5A-3F7D-417F9CEBE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550E38-F1DB-63DA-94E2-A97A2202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1EBC7F-165D-49A8-4FFF-FDEDA9D4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17BDA3-4281-023E-4BCC-99B5F54D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16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6DDD32-7D0B-094E-1578-57C9AC58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C4BDF9-CEC2-D7FF-9883-D5E0B239C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7210B5-AA54-B601-203E-45BEA415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B22B1C-558E-1C44-4352-6B7010AA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C3EC0B-5862-530D-6625-A4EB00AF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91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6A1B8F-C066-A970-E3A1-078ACA0FD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644278-BFCE-3CE7-7EED-F253F4DD1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8C6C00-9712-6249-29AF-418649FB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D3E2E-9CC3-0DC3-CF4D-0427A6ED0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2D076A-E55B-BB89-0815-5F218148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52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19AD27F-0F55-0CD3-A433-28387879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388D0E-DE2B-CF1F-38E3-009C63C9E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5BA333-5A51-3C25-4F1E-E63855B50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ED8F4-6452-4BAD-8256-AA60B3005C24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926444-8094-7CC9-2605-87EED00B6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BEE06D-271F-520B-A6A3-6755939F2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89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bin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B55-BC34-D049-6B04-6410687B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23F04BD-15AA-6E9D-336B-7FE6B75261BE}"/>
              </a:ext>
            </a:extLst>
          </p:cNvPr>
          <p:cNvSpPr/>
          <p:nvPr/>
        </p:nvSpPr>
        <p:spPr>
          <a:xfrm>
            <a:off x="5407162" y="288274"/>
            <a:ext cx="1271544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整合入口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A8C668D-334F-9FE7-5029-F40D5EACB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5" y="1237664"/>
            <a:ext cx="11784070" cy="47917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941BF2E-30ED-B21F-0024-5DD979304F81}"/>
              </a:ext>
            </a:extLst>
          </p:cNvPr>
          <p:cNvSpPr/>
          <p:nvPr/>
        </p:nvSpPr>
        <p:spPr>
          <a:xfrm>
            <a:off x="10284984" y="6378633"/>
            <a:ext cx="1810871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顯示皆為模擬</a:t>
            </a:r>
          </a:p>
        </p:txBody>
      </p:sp>
    </p:spTree>
    <p:extLst>
      <p:ext uri="{BB962C8B-B14F-4D97-AF65-F5344CB8AC3E}">
        <p14:creationId xmlns:p14="http://schemas.microsoft.com/office/powerpoint/2010/main" val="417318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B55-BC34-D049-6B04-6410687B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大樓PNG圖案，卡通PNG去背圖片素材，免費下載- Lovepik">
            <a:extLst>
              <a:ext uri="{FF2B5EF4-FFF2-40B4-BE49-F238E27FC236}">
                <a16:creationId xmlns:a16="http://schemas.microsoft.com/office/drawing/2014/main" id="{DFFF8D56-D662-41D3-8FD8-3037D5B58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976E596-84F1-A4B0-4A0E-AB3C478A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47" y="1970816"/>
            <a:ext cx="2269721" cy="4313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0B8EDAB-F371-7AA0-7C89-0BF0801F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14" y="1970816"/>
            <a:ext cx="4740442" cy="44988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6BE72D26-A210-77AC-3DE2-87D62354F3E8}"/>
              </a:ext>
            </a:extLst>
          </p:cNvPr>
          <p:cNvSpPr/>
          <p:nvPr/>
        </p:nvSpPr>
        <p:spPr>
          <a:xfrm>
            <a:off x="438434" y="1007878"/>
            <a:ext cx="2900046" cy="707886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點我跳轉 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0" marR="0" lvl="0" indent="0" algn="ctr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K11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中控平台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詳見註解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D3995F-C2C9-8735-B740-0B42544618FB}"/>
              </a:ext>
            </a:extLst>
          </p:cNvPr>
          <p:cNvSpPr/>
          <p:nvPr/>
        </p:nvSpPr>
        <p:spPr>
          <a:xfrm>
            <a:off x="9483844" y="2234508"/>
            <a:ext cx="2269721" cy="3785652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這邊有兩個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Rule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：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0" marR="0" lvl="0" indent="0" algn="ctr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457200" marR="0" lvl="0" indent="-45720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每個棟別圖示上方會有個跳轉各棟中控室的按鈕。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457200" marR="0" lvl="0" indent="-45720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457200" marR="0" lvl="0" indent="-45720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點擊棟別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，會顯示樓層的監控狀況。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0" marR="0" lvl="0" indent="0" algn="ctr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如圖示意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0" marR="0" lvl="0" indent="0" algn="ctr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BF0BD753-8DCE-9B58-735B-7DCCB4EAC2A7}"/>
              </a:ext>
            </a:extLst>
          </p:cNvPr>
          <p:cNvSpPr/>
          <p:nvPr/>
        </p:nvSpPr>
        <p:spPr>
          <a:xfrm>
            <a:off x="3338480" y="3841967"/>
            <a:ext cx="619829" cy="570733"/>
          </a:xfrm>
          <a:prstGeom prst="rightArrow">
            <a:avLst/>
          </a:prstGeom>
          <a:solidFill>
            <a:schemeClr val="accent4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37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B55-BC34-D049-6B04-6410687B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41A308E-D258-45A6-9298-FB5A4EF95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4" y="1008195"/>
            <a:ext cx="11033911" cy="54307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23F04BD-15AA-6E9D-336B-7FE6B75261BE}"/>
              </a:ext>
            </a:extLst>
          </p:cNvPr>
          <p:cNvSpPr/>
          <p:nvPr/>
        </p:nvSpPr>
        <p:spPr>
          <a:xfrm>
            <a:off x="4985820" y="368260"/>
            <a:ext cx="3280602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Rule 1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：當前中控警醒介面</a:t>
            </a:r>
          </a:p>
        </p:txBody>
      </p:sp>
    </p:spTree>
    <p:extLst>
      <p:ext uri="{BB962C8B-B14F-4D97-AF65-F5344CB8AC3E}">
        <p14:creationId xmlns:p14="http://schemas.microsoft.com/office/powerpoint/2010/main" val="302984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3DD3-4F05-DC8B-9156-16795414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85AB501-DF02-2D84-45EA-4413EC34324C}"/>
              </a:ext>
            </a:extLst>
          </p:cNvPr>
          <p:cNvSpPr/>
          <p:nvPr/>
        </p:nvSpPr>
        <p:spPr>
          <a:xfrm>
            <a:off x="4322580" y="411218"/>
            <a:ext cx="4520711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defTabSz="890402">
              <a:defRPr/>
            </a:pP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Rule 1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：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會有兩種形式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In/Out &amp; WIP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820167-0E59-56BC-5E14-9760610EC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2" y="1174227"/>
            <a:ext cx="11002911" cy="54014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769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B55-BC34-D049-6B04-6410687B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23F04BD-15AA-6E9D-336B-7FE6B75261BE}"/>
              </a:ext>
            </a:extLst>
          </p:cNvPr>
          <p:cNvSpPr/>
          <p:nvPr/>
        </p:nvSpPr>
        <p:spPr>
          <a:xfrm>
            <a:off x="4014774" y="63460"/>
            <a:ext cx="2410574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Rule 2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：樓層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上半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AutoShape 2" descr="大樓PNG圖案，卡通PNG去背圖片素材，免費下載- Lovepik">
            <a:extLst>
              <a:ext uri="{FF2B5EF4-FFF2-40B4-BE49-F238E27FC236}">
                <a16:creationId xmlns:a16="http://schemas.microsoft.com/office/drawing/2014/main" id="{DFFF8D56-D662-41D3-8FD8-3037D5B58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8811293-7305-4319-9892-A64B5AAE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180" y="929582"/>
            <a:ext cx="6703747" cy="4489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44AE7B1-13AC-84DB-E6FA-98D6925A24F4}"/>
              </a:ext>
            </a:extLst>
          </p:cNvPr>
          <p:cNvSpPr/>
          <p:nvPr/>
        </p:nvSpPr>
        <p:spPr>
          <a:xfrm>
            <a:off x="842464" y="5584480"/>
            <a:ext cx="10811871" cy="1015663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承接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Rule 2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，左側為先前選擇的棟別樓層，右側為該樓層的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Layout</a:t>
            </a:r>
          </a:p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注：由機台點位標示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FF08FC-A844-2023-B842-5F5FF73E9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488" y="921747"/>
            <a:ext cx="3085825" cy="44124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310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B55-BC34-D049-6B04-6410687B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BB5010E6-7A5A-1A08-7BE6-498AE8A0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325"/>
            <a:ext cx="11900497" cy="3493967"/>
          </a:xfrm>
          <a:prstGeom prst="rect">
            <a:avLst/>
          </a:prstGeom>
        </p:spPr>
      </p:pic>
      <p:sp>
        <p:nvSpPr>
          <p:cNvPr id="4" name="AutoShape 2" descr="大樓PNG圖案，卡通PNG去背圖片素材，免費下載- Lovepik">
            <a:extLst>
              <a:ext uri="{FF2B5EF4-FFF2-40B4-BE49-F238E27FC236}">
                <a16:creationId xmlns:a16="http://schemas.microsoft.com/office/drawing/2014/main" id="{DFFF8D56-D662-41D3-8FD8-3037D5B58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DBBF08-ADF7-72E2-1D89-367676076A92}"/>
              </a:ext>
            </a:extLst>
          </p:cNvPr>
          <p:cNvSpPr/>
          <p:nvPr/>
        </p:nvSpPr>
        <p:spPr>
          <a:xfrm>
            <a:off x="4738313" y="173215"/>
            <a:ext cx="2410574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Rule 2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：樓層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下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半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5093C42-621F-5257-4A81-819C2554E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7292"/>
            <a:ext cx="12192616" cy="270476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A2E4698-33FA-44AF-A867-F532AE55BB15}"/>
              </a:ext>
            </a:extLst>
          </p:cNvPr>
          <p:cNvSpPr/>
          <p:nvPr/>
        </p:nvSpPr>
        <p:spPr>
          <a:xfrm>
            <a:off x="4471538" y="4199241"/>
            <a:ext cx="7378842" cy="707886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457200" marR="0" lvl="0" indent="-45720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選擇該樓層後，下方可看見該站點統整的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24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小時運行時間軸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457200" marR="0" lvl="0" indent="-45720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針對未啟動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OR 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烘烤資訊異常者於下方提示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EA99F49A-7418-57CD-40EA-9C636A32570A}"/>
              </a:ext>
            </a:extLst>
          </p:cNvPr>
          <p:cNvSpPr/>
          <p:nvPr/>
        </p:nvSpPr>
        <p:spPr>
          <a:xfrm>
            <a:off x="402990" y="816210"/>
            <a:ext cx="343667" cy="3743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E71E21FE-6A00-A8F0-9F9D-6AC31FA0F585}"/>
              </a:ext>
            </a:extLst>
          </p:cNvPr>
          <p:cNvSpPr/>
          <p:nvPr/>
        </p:nvSpPr>
        <p:spPr>
          <a:xfrm>
            <a:off x="402990" y="4280226"/>
            <a:ext cx="343667" cy="3743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44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B55-BC34-D049-6B04-6410687B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23F04BD-15AA-6E9D-336B-7FE6B75261BE}"/>
              </a:ext>
            </a:extLst>
          </p:cNvPr>
          <p:cNvSpPr/>
          <p:nvPr/>
        </p:nvSpPr>
        <p:spPr>
          <a:xfrm>
            <a:off x="482678" y="269648"/>
            <a:ext cx="4385157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defTabSz="890402">
              <a:defRPr/>
            </a:pP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Rule 2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：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Layout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站點 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上半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lang="zh-TW" altLang="en-US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AutoShape 2" descr="大樓PNG圖案，卡通PNG去背圖片素材，免費下載- Lovepik">
            <a:extLst>
              <a:ext uri="{FF2B5EF4-FFF2-40B4-BE49-F238E27FC236}">
                <a16:creationId xmlns:a16="http://schemas.microsoft.com/office/drawing/2014/main" id="{DFFF8D56-D662-41D3-8FD8-3037D5B58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AD56E-41DB-20A5-18D1-74257624D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0" y="743402"/>
            <a:ext cx="11535539" cy="275924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DF29E3C-332C-1A7B-5A35-E5001F5F0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78" y="3553139"/>
            <a:ext cx="7206874" cy="29175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418EECB-73F9-4757-BB77-A490A92B538C}"/>
              </a:ext>
            </a:extLst>
          </p:cNvPr>
          <p:cNvSpPr/>
          <p:nvPr/>
        </p:nvSpPr>
        <p:spPr>
          <a:xfrm>
            <a:off x="7844000" y="3803351"/>
            <a:ext cx="3895215" cy="132343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defTabSz="890402">
              <a:defRPr/>
            </a:pP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點選該位置後，可詳見：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lvl="0" defTabSz="890402">
              <a:defRPr/>
            </a:pP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lvl="0" defTabSz="890402">
              <a:defRPr/>
            </a:pP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1.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 歷史詳細狀況，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lvl="0" defTabSz="890402">
              <a:defRPr/>
            </a:pP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2.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 昨日之監控，近期之故障統計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89D99AC-0CE9-627F-643F-F45625D614C4}"/>
              </a:ext>
            </a:extLst>
          </p:cNvPr>
          <p:cNvSpPr/>
          <p:nvPr/>
        </p:nvSpPr>
        <p:spPr>
          <a:xfrm>
            <a:off x="402990" y="816210"/>
            <a:ext cx="343667" cy="3743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884E857-6075-D126-B5F8-9A82509BB183}"/>
              </a:ext>
            </a:extLst>
          </p:cNvPr>
          <p:cNvSpPr/>
          <p:nvPr/>
        </p:nvSpPr>
        <p:spPr>
          <a:xfrm>
            <a:off x="328230" y="3429000"/>
            <a:ext cx="343667" cy="3743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663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E56E7-613D-8B6C-8D8E-3ADDF683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E8C5EFE-F0A3-744F-0B80-951348A83964}"/>
              </a:ext>
            </a:extLst>
          </p:cNvPr>
          <p:cNvSpPr/>
          <p:nvPr/>
        </p:nvSpPr>
        <p:spPr>
          <a:xfrm>
            <a:off x="482678" y="269648"/>
            <a:ext cx="4385157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defTabSz="890402">
              <a:defRPr/>
            </a:pP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Rule 2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：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Layout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站點 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下半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lang="zh-TW" altLang="en-US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AutoShape 2" descr="大樓PNG圖案，卡通PNG去背圖片素材，免費下載- Lovepik">
            <a:extLst>
              <a:ext uri="{FF2B5EF4-FFF2-40B4-BE49-F238E27FC236}">
                <a16:creationId xmlns:a16="http://schemas.microsoft.com/office/drawing/2014/main" id="{3CEE360A-0D83-F70C-2731-326A008C9F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98E75E-9F14-E935-B03F-A61B35E6F0FA}"/>
              </a:ext>
            </a:extLst>
          </p:cNvPr>
          <p:cNvSpPr/>
          <p:nvPr/>
        </p:nvSpPr>
        <p:spPr>
          <a:xfrm>
            <a:off x="7968554" y="4350177"/>
            <a:ext cx="3599527" cy="1015663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457200" lvl="0" indent="-457200" defTabSz="890402">
              <a:buAutoNum type="arabicPeriod"/>
              <a:defRPr/>
            </a:pP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顯示該台之保養紀錄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 marL="457200" lvl="0" indent="-457200" defTabSz="890402">
              <a:buAutoNum type="arabicPeriod"/>
              <a:defRPr/>
            </a:pP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零件更換紀錄，以及相關備品剩餘數量</a:t>
            </a:r>
            <a:endParaRPr lang="en-US" altLang="zh-TW" sz="2000" b="1" kern="0" dirty="0">
              <a:solidFill>
                <a:prstClr val="black"/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0186631-1F92-C0DE-13CD-8BDBCF9A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32" y="704022"/>
            <a:ext cx="11407132" cy="254197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351077A-F0BF-6F27-000A-73936321C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73" y="3378713"/>
            <a:ext cx="6859023" cy="3266365"/>
          </a:xfrm>
          <a:prstGeom prst="rect">
            <a:avLst/>
          </a:prstGeom>
        </p:spPr>
      </p:pic>
      <p:sp>
        <p:nvSpPr>
          <p:cNvPr id="15" name="橢圓 14">
            <a:extLst>
              <a:ext uri="{FF2B5EF4-FFF2-40B4-BE49-F238E27FC236}">
                <a16:creationId xmlns:a16="http://schemas.microsoft.com/office/drawing/2014/main" id="{21C491CC-49C8-3287-D00A-8946A1B24BEF}"/>
              </a:ext>
            </a:extLst>
          </p:cNvPr>
          <p:cNvSpPr/>
          <p:nvPr/>
        </p:nvSpPr>
        <p:spPr>
          <a:xfrm>
            <a:off x="402990" y="816210"/>
            <a:ext cx="343667" cy="3743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5D3F22B-E14E-98FE-071C-6E4240A9ACC0}"/>
              </a:ext>
            </a:extLst>
          </p:cNvPr>
          <p:cNvSpPr/>
          <p:nvPr/>
        </p:nvSpPr>
        <p:spPr>
          <a:xfrm>
            <a:off x="402990" y="3348114"/>
            <a:ext cx="343667" cy="3743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1109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3D29-9C39-111C-0B8E-14BA31B5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48C7E08-BB7D-B0F1-0366-39BC9F483C74}"/>
              </a:ext>
            </a:extLst>
          </p:cNvPr>
          <p:cNvSpPr/>
          <p:nvPr/>
        </p:nvSpPr>
        <p:spPr>
          <a:xfrm>
            <a:off x="1543168" y="582174"/>
            <a:ext cx="3581510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defTabSz="890402"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顯示過往 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In/Out 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紀錄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折線圖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A958EB-436E-CF99-3318-5EAB9FB8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06" y="1327988"/>
            <a:ext cx="6061833" cy="41095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3E1E9BC-9486-1EF5-E80F-96E1418B7BDB}"/>
              </a:ext>
            </a:extLst>
          </p:cNvPr>
          <p:cNvSpPr/>
          <p:nvPr/>
        </p:nvSpPr>
        <p:spPr>
          <a:xfrm>
            <a:off x="8596702" y="582174"/>
            <a:ext cx="1762223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即時機故上拋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53E4834-84B5-475A-AB68-EA01EEB0A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049" y="1410181"/>
            <a:ext cx="5428371" cy="40273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2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08D3-B962-B6C9-6030-87C96BB2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16952476-43C1-4A13-AE56-E3165E90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59" y="4253501"/>
            <a:ext cx="2604499" cy="260449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57B709F-209B-770A-ACC0-D5A64F262EA1}"/>
              </a:ext>
            </a:extLst>
          </p:cNvPr>
          <p:cNvSpPr/>
          <p:nvPr/>
        </p:nvSpPr>
        <p:spPr>
          <a:xfrm>
            <a:off x="721341" y="394156"/>
            <a:ext cx="3243979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顯示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WIP 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過往紀錄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折線圖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96FB31-52A5-6ACE-1481-44132485AECB}"/>
              </a:ext>
            </a:extLst>
          </p:cNvPr>
          <p:cNvSpPr/>
          <p:nvPr/>
        </p:nvSpPr>
        <p:spPr>
          <a:xfrm>
            <a:off x="6809040" y="394156"/>
            <a:ext cx="2268033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即時搬運異常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上拋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9DB26EA-E280-3D23-7E10-6B151E969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41" y="1368860"/>
            <a:ext cx="5409065" cy="3109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44E2C68-5B1A-43E3-B840-809C44F78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040" y="1368860"/>
            <a:ext cx="4852838" cy="3109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8322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B965-FD63-5E9D-ECB3-6BB08CD6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7DA1FF6-827A-449F-901A-69DDBE07ED72}"/>
              </a:ext>
            </a:extLst>
          </p:cNvPr>
          <p:cNvSpPr/>
          <p:nvPr/>
        </p:nvSpPr>
        <p:spPr>
          <a:xfrm>
            <a:off x="1149072" y="1153677"/>
            <a:ext cx="4238527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defTabSz="890402"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顯示過往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派報紀錄</a:t>
            </a:r>
            <a:r>
              <a:rPr lang="zh-TW" altLang="en-US" sz="2000" b="1" dirty="0">
                <a:latin typeface="芫荽" pitchFamily="2" charset="-120"/>
                <a:ea typeface="芫荽" pitchFamily="2" charset="-120"/>
                <a:cs typeface="芫荽" pitchFamily="2" charset="-120"/>
              </a:rPr>
              <a:t>搬運作業紀錄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F83010-4EA6-4273-8798-B455E0C908DA}"/>
              </a:ext>
            </a:extLst>
          </p:cNvPr>
          <p:cNvSpPr/>
          <p:nvPr/>
        </p:nvSpPr>
        <p:spPr>
          <a:xfrm>
            <a:off x="6804401" y="1158121"/>
            <a:ext cx="4238527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defTabSz="890402"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顯示過往</a:t>
            </a: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派報紀錄烘烤</a:t>
            </a:r>
            <a:r>
              <a:rPr lang="zh-TW" altLang="en-US" sz="2000" b="1" dirty="0">
                <a:latin typeface="芫荽" pitchFamily="2" charset="-120"/>
                <a:ea typeface="芫荽" pitchFamily="2" charset="-120"/>
                <a:cs typeface="芫荽" pitchFamily="2" charset="-120"/>
              </a:rPr>
              <a:t>作業紀錄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13AFB6-7650-49B9-9B56-89B3C654B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679" y="4616521"/>
            <a:ext cx="2663578" cy="2663578"/>
          </a:xfrm>
          <a:prstGeom prst="rect">
            <a:avLst/>
          </a:prstGeom>
        </p:spPr>
      </p:pic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AE8F2E0C-24D2-4270-819A-06D7A47C5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61017"/>
              </p:ext>
            </p:extLst>
          </p:nvPr>
        </p:nvGraphicFramePr>
        <p:xfrm>
          <a:off x="653049" y="1965960"/>
          <a:ext cx="523057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915">
                  <a:extLst>
                    <a:ext uri="{9D8B030D-6E8A-4147-A177-3AD203B41FA5}">
                      <a16:colId xmlns:a16="http://schemas.microsoft.com/office/drawing/2014/main" val="1073566567"/>
                    </a:ext>
                  </a:extLst>
                </a:gridCol>
                <a:gridCol w="1456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38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時間</a:t>
                      </a:r>
                      <a:endParaRPr sz="1400" b="1"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設備編號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超時時間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2025-06-13 12:00:03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3260-A12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400">
                          <a:solidFill>
                            <a:srgbClr val="FC8181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200分鐘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2025-06-13 12:50:03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3260-A12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400">
                          <a:solidFill>
                            <a:srgbClr val="FC8181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250分鐘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2025-06-16 02:23:00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3260-A16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65分鐘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2025-06-15 03:13:00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3260-A15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400">
                          <a:solidFill>
                            <a:srgbClr val="FC8181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126分鐘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2025-06-17 23:47:00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endParaRPr lang="en-US" altLang="zh-TW"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3260-A11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FC8181"/>
                          </a:solidFill>
                        </a:defRPr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127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分鐘</a:t>
                      </a:r>
                    </a:p>
                    <a:p>
                      <a:pPr algn="ctr">
                        <a:lnSpc>
                          <a:spcPct val="100000"/>
                        </a:lnSpc>
                        <a:defRPr sz="1400">
                          <a:solidFill>
                            <a:srgbClr val="FC8181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B3D0E180-AA17-4AB0-BB12-5533A85DB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55938"/>
              </p:ext>
            </p:extLst>
          </p:nvPr>
        </p:nvGraphicFramePr>
        <p:xfrm>
          <a:off x="6561852" y="1965960"/>
          <a:ext cx="514972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015">
                  <a:extLst>
                    <a:ext uri="{9D8B030D-6E8A-4147-A177-3AD203B41FA5}">
                      <a16:colId xmlns:a16="http://schemas.microsoft.com/office/drawing/2014/main" val="1073566567"/>
                    </a:ext>
                  </a:extLst>
                </a:gridCol>
                <a:gridCol w="1628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6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時間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b="1" kern="1200"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設備編號</a:t>
                      </a:r>
                      <a:endParaRPr sz="1600" b="1" kern="1200"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超時時間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2025-06-13 12:00:03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3260-A15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3260-A19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50分鐘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2025-06-13 12:50:03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3260-A17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100分鐘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2025-06-14 20:08:00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3260-B14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3260-B16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400">
                          <a:solidFill>
                            <a:srgbClr val="FC8181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121分鐘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2025-06-17 17:41:00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3260-B14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3260-B17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80分鐘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2025-06-13 13:38:00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3260-B12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3260-B15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defRPr sz="1400">
                          <a:solidFill>
                            <a:srgbClr val="FC8181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129分鐘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885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9B94-A5B0-8BA2-9B64-F731E761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E4CB583-8B06-C5C3-68EC-115D92CA6A7A}"/>
              </a:ext>
            </a:extLst>
          </p:cNvPr>
          <p:cNvSpPr/>
          <p:nvPr/>
        </p:nvSpPr>
        <p:spPr>
          <a:xfrm>
            <a:off x="689597" y="309808"/>
            <a:ext cx="1823652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派報趨勢曲線</a:t>
            </a:r>
          </a:p>
        </p:txBody>
      </p:sp>
      <p:pic>
        <p:nvPicPr>
          <p:cNvPr id="3" name="Picture 3" descr="hourly_dispatch_chart.png">
            <a:extLst>
              <a:ext uri="{FF2B5EF4-FFF2-40B4-BE49-F238E27FC236}">
                <a16:creationId xmlns:a16="http://schemas.microsoft.com/office/drawing/2014/main" id="{2790ACB1-2A93-5501-EC7F-D1EA2922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97" y="1032210"/>
            <a:ext cx="7315200" cy="228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6AB8129-1557-03CB-40A3-F9297D2A1081}"/>
              </a:ext>
            </a:extLst>
          </p:cNvPr>
          <p:cNvSpPr/>
          <p:nvPr/>
        </p:nvSpPr>
        <p:spPr>
          <a:xfrm>
            <a:off x="689597" y="3567765"/>
            <a:ext cx="1823652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時間段分析</a:t>
            </a: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09F3484B-4E38-43B6-B4DF-92CA201D7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43683"/>
              </p:ext>
            </p:extLst>
          </p:nvPr>
        </p:nvGraphicFramePr>
        <p:xfrm>
          <a:off x="552322" y="4442032"/>
          <a:ext cx="5306582" cy="14056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8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118">
                  <a:extLst>
                    <a:ext uri="{9D8B030D-6E8A-4147-A177-3AD203B41FA5}">
                      <a16:colId xmlns:a16="http://schemas.microsoft.com/office/drawing/2014/main" val="2681730917"/>
                    </a:ext>
                  </a:extLst>
                </a:gridCol>
                <a:gridCol w="1404145">
                  <a:extLst>
                    <a:ext uri="{9D8B030D-6E8A-4147-A177-3AD203B41FA5}">
                      <a16:colId xmlns:a16="http://schemas.microsoft.com/office/drawing/2014/main" val="1154473709"/>
                    </a:ext>
                  </a:extLst>
                </a:gridCol>
              </a:tblGrid>
              <a:tr h="36930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時段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派報數量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b="1"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超時比例</a:t>
                      </a:r>
                      <a:endParaRPr b="1"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主要問題設備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6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早班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 (0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7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: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0-1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9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: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3260-A12, 3260-A16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晚班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 (1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9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: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0-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07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: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0)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中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低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3260-B14, 3260-B16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17071DFF-5F13-49E8-BBE2-7E6795DA7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26462"/>
              </p:ext>
            </p:extLst>
          </p:nvPr>
        </p:nvGraphicFramePr>
        <p:xfrm>
          <a:off x="6479568" y="4280787"/>
          <a:ext cx="5578868" cy="1554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2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⏱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監控頻率不足：每50分鐘檢查一次，導致部分問題無法及時發現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流程協調問題：搬運與烘烤作業之間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&amp;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爬蟲間隔</a:t>
                      </a: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的銜接存在延遲，影響整體生產效率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或此狀況與實際數據不吻合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⚠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設備維護不足：多數超時事件與設備故障相關，特別是3260-A12、3260-A16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 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和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 </a:t>
                      </a:r>
                      <a:r>
                        <a:rPr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3260-A19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設備頻繁出現問題</a:t>
                      </a:r>
                      <a:endParaRPr dirty="0">
                        <a:solidFill>
                          <a:schemeClr val="tx1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2AFBD4A0-46B6-491B-A13E-759A7FF55F41}"/>
              </a:ext>
            </a:extLst>
          </p:cNvPr>
          <p:cNvSpPr/>
          <p:nvPr/>
        </p:nvSpPr>
        <p:spPr>
          <a:xfrm>
            <a:off x="6479568" y="3567765"/>
            <a:ext cx="1295999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簡易分析</a:t>
            </a:r>
          </a:p>
        </p:txBody>
      </p:sp>
    </p:spTree>
    <p:extLst>
      <p:ext uri="{BB962C8B-B14F-4D97-AF65-F5344CB8AC3E}">
        <p14:creationId xmlns:p14="http://schemas.microsoft.com/office/powerpoint/2010/main" val="1940298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F912-036A-3525-684B-83DF9AC7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7143379-F294-AC9D-2A1A-87EFAF686D3A}"/>
              </a:ext>
            </a:extLst>
          </p:cNvPr>
          <p:cNvSpPr/>
          <p:nvPr/>
        </p:nvSpPr>
        <p:spPr>
          <a:xfrm>
            <a:off x="546331" y="215600"/>
            <a:ext cx="3197186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預計要做的項目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&amp;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Owner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7D5C1C55-F81A-F43C-D5C5-1C2E02EAF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817978"/>
              </p:ext>
            </p:extLst>
          </p:nvPr>
        </p:nvGraphicFramePr>
        <p:xfrm>
          <a:off x="546331" y="810972"/>
          <a:ext cx="82296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項目</a:t>
                      </a:r>
                      <a:endParaRPr sz="1400" b="1" dirty="0">
                        <a:solidFill>
                          <a:srgbClr val="FFFFFF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Owner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IN/OUT </a:t>
                      </a:r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歷史紀錄視覺化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WIP </a:t>
                      </a:r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歷史紀錄視覺化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機故上拋 </a:t>
                      </a:r>
                      <a:r>
                        <a:rPr lang="en-US" altLang="zh-TW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API </a:t>
                      </a:r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優化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搬運監控上拋 </a:t>
                      </a:r>
                      <a:r>
                        <a:rPr lang="en-US" altLang="zh-TW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API </a:t>
                      </a:r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優化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異常偵測與警示模組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設備健康度監測與趨勢分析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預防性維護預警機制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自動化報表生成與導出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跨系統 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API </a:t>
                      </a:r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整合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操作介面優化與主題切換功能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歷史資料趨勢分析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機台維修歷史查詢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警報分級通知管理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13" name="圖片 12" descr="一張含有 卡通, 圖畫, 美工圖案, 圖解 的圖片&#10;&#10;AI 產生的內容可能不正確。">
            <a:extLst>
              <a:ext uri="{FF2B5EF4-FFF2-40B4-BE49-F238E27FC236}">
                <a16:creationId xmlns:a16="http://schemas.microsoft.com/office/drawing/2014/main" id="{48D7F49A-77F4-3D5B-3296-AF7D4C01E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3200400"/>
            <a:ext cx="3962400" cy="3962400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D7FAFBAB-178F-6417-8657-816DDA22C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5078172"/>
            <a:ext cx="8572500" cy="178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2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99" y="614100"/>
            <a:ext cx="3441700" cy="485775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rPr lang="zh-TW" altLang="en-US" dirty="0">
                <a:latin typeface="芫荽" pitchFamily="2" charset="-120"/>
                <a:ea typeface="芫荽" pitchFamily="2" charset="-120"/>
                <a:cs typeface="芫荽" pitchFamily="2" charset="-120"/>
              </a:rPr>
              <a:t>細項項目說明</a:t>
            </a:r>
            <a:endParaRPr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43000" y="1371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457062"/>
            <a:ext cx="1922321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跨系統</a:t>
            </a:r>
            <a:r>
              <a:rPr lang="zh-TW" altLang="en-US"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API</a:t>
            </a:r>
            <a:r>
              <a:rPr lang="zh-TW" altLang="en-US"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整合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913927"/>
            <a:ext cx="793295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lang="zh-TW" altLang="en-US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設計異質系統 </a:t>
            </a:r>
            <a:r>
              <a:rPr lang="en-US" altLang="zh-TW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API </a:t>
            </a:r>
            <a:r>
              <a:rPr lang="zh-TW" altLang="en-US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整合機制，促進資料流通並強化互操作性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2514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585370"/>
            <a:ext cx="3518069" cy="37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歷史資料趨勢分析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039666"/>
            <a:ext cx="460895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lang="zh-TW" altLang="en-US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開發歷史資料分析模組，生成趨勢視覺化與統計成果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43000" y="3657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3740067"/>
            <a:ext cx="2069797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lang="zh-TW" altLang="en-US"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機台維修歷史查詢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81650"/>
            <a:ext cx="518603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lang="zh-TW" altLang="en-US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建置設備維修資料查詢平台，實現歷史追蹤及故障模式分析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3000" y="4800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4902271"/>
            <a:ext cx="24416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833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警報</a:t>
            </a:r>
            <a:r>
              <a:rPr dirty="0" err="1"/>
              <a:t>分級通知</a:t>
            </a:r>
            <a:r>
              <a:rPr lang="zh-TW" altLang="en-US" dirty="0"/>
              <a:t>管理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42999" y="5324817"/>
            <a:ext cx="557075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lang="zh-TW" altLang="en-US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設計警報分級與權限控制流程，精確推送通知至相關管理人員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43000" y="1371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1649" y="1454402"/>
            <a:ext cx="2736647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IN/OUT </a:t>
            </a:r>
            <a:r>
              <a:rPr lang="zh-TW" altLang="en-US"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歷史</a:t>
            </a: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紀錄</a:t>
            </a:r>
            <a:r>
              <a:rPr lang="zh-TW" altLang="en-US" sz="1830" dirty="0">
                <a:latin typeface="芫荽" pitchFamily="2" charset="-120"/>
                <a:ea typeface="芫荽" pitchFamily="2" charset="-120"/>
                <a:cs typeface="芫荽" pitchFamily="2" charset="-120"/>
              </a:rPr>
              <a:t>視覺化</a:t>
            </a:r>
            <a:endParaRPr sz="183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1649" y="1875219"/>
            <a:ext cx="537839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lang="zh-TW" altLang="en-US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建立系統進出歷史數據視覺化圖表，提供趨勢分析與決策支持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2514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2999" y="2569855"/>
            <a:ext cx="27238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833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異常偵測與警示模組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2999" y="3020453"/>
            <a:ext cx="68788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500">
                <a:solidFill>
                  <a:srgbClr val="333333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開發自動偵測與通知系統異常事件的警示機制，提升事件反應效率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143000" y="3657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6424" y="3755980"/>
            <a:ext cx="357020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833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設備健康度監測與趨勢分析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42999" y="4188213"/>
            <a:ext cx="664797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500">
                <a:solidFill>
                  <a:srgbClr val="333333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建立設備健康狀態監測與視覺化展示系統，支持趨勢分析與預警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143000" y="4800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6424" y="4854792"/>
            <a:ext cx="27238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833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預防性維護預警機制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42999" y="5283382"/>
            <a:ext cx="64171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500">
                <a:solidFill>
                  <a:srgbClr val="333333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開發設備預防性維護排程與自動提醒系統，強化維護管理效能</a:t>
            </a:r>
            <a:endParaRPr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1A1B2D-957D-4E8F-8BFB-02262BD5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02056"/>
            <a:ext cx="3441700" cy="485775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rPr lang="zh-TW" altLang="en-US" dirty="0">
                <a:latin typeface="芫荽" pitchFamily="2" charset="-120"/>
                <a:ea typeface="芫荽" pitchFamily="2" charset="-120"/>
                <a:cs typeface="芫荽" pitchFamily="2" charset="-120"/>
              </a:rPr>
              <a:t>細項項目說明</a:t>
            </a:r>
            <a:endParaRPr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" y="12700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7237" y="1306971"/>
            <a:ext cx="24609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667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dirty="0"/>
              <a:t>WIP</a:t>
            </a:r>
            <a:r>
              <a:rPr lang="zh-TW" altLang="en-US" dirty="0"/>
              <a:t>歷史紀錄視覺化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69319" y="1703353"/>
            <a:ext cx="24176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500">
                <a:solidFill>
                  <a:srgbClr val="333333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en-US" altLang="zh-TW" dirty="0"/>
              <a:t>WIP </a:t>
            </a:r>
            <a:r>
              <a:rPr lang="zh-TW" altLang="en-US" dirty="0"/>
              <a:t>歷史數據視覺化整合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066800" y="22606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799" y="2282122"/>
            <a:ext cx="1975221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lang="zh-TW" altLang="en-US"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機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故上拋</a:t>
            </a:r>
            <a:r>
              <a:rPr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 API 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799" y="2703106"/>
            <a:ext cx="4418197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500">
                <a:solidFill>
                  <a:srgbClr val="333333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重</a:t>
            </a:r>
            <a:r>
              <a:rPr dirty="0" err="1"/>
              <a:t>構機障數據API，提升傳輸效率、強化錯誤處理機制</a:t>
            </a:r>
            <a:r>
              <a:rPr lang="zh-TW" altLang="en-US" dirty="0"/>
              <a:t>。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066800" y="3251199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799" y="3273065"/>
            <a:ext cx="240161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667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dirty="0" err="1"/>
              <a:t>搬運監控上拋</a:t>
            </a:r>
            <a:r>
              <a:rPr dirty="0"/>
              <a:t> API </a:t>
            </a:r>
            <a:r>
              <a:rPr dirty="0" err="1"/>
              <a:t>優化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66799" y="3703436"/>
            <a:ext cx="5104282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500">
                <a:solidFill>
                  <a:srgbClr val="333333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dirty="0" err="1"/>
              <a:t>優化物料搬運監控</a:t>
            </a:r>
            <a:r>
              <a:rPr lang="en-US" dirty="0" err="1"/>
              <a:t>API</a:t>
            </a:r>
            <a:r>
              <a:rPr dirty="0"/>
              <a:t>，</a:t>
            </a:r>
            <a:r>
              <a:rPr lang="zh-TW" altLang="en-US" dirty="0"/>
              <a:t>增強異步通訊架構</a:t>
            </a:r>
            <a:r>
              <a:rPr dirty="0"/>
              <a:t>，</a:t>
            </a:r>
            <a:r>
              <a:rPr dirty="0" err="1"/>
              <a:t>提高數據傳輸效率</a:t>
            </a:r>
            <a:r>
              <a:rPr dirty="0"/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6800" y="42418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7237" y="4241866"/>
            <a:ext cx="27494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667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自動化報表生成與導出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66799" y="4635566"/>
            <a:ext cx="63401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500">
                <a:solidFill>
                  <a:srgbClr val="333333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開發自動報表生成及多格式導出系統，支援定時產出與自動化分發。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066800" y="52324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7237" y="5217017"/>
            <a:ext cx="35189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TW"/>
            </a:defPPr>
            <a:lvl1pPr>
              <a:defRPr sz="1667" b="1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defRPr>
            </a:lvl1pPr>
          </a:lstStyle>
          <a:p>
            <a:r>
              <a:rPr lang="zh-TW" altLang="en-US" dirty="0"/>
              <a:t>操作介面優化與主題切換功能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057237" y="5669520"/>
            <a:ext cx="49936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lang="zh-TW" altLang="en-US"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強化操作介面體驗，增設主題切換及功能模組視覺優化。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E21F0C3-D624-466F-97AA-CAE491AA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37" y="574761"/>
            <a:ext cx="3441700" cy="485775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rPr lang="zh-TW" altLang="en-US" dirty="0">
                <a:latin typeface="芫荽" pitchFamily="2" charset="-120"/>
                <a:ea typeface="芫荽" pitchFamily="2" charset="-120"/>
                <a:cs typeface="芫荽" pitchFamily="2" charset="-120"/>
              </a:rPr>
              <a:t>細項項目說明</a:t>
            </a:r>
            <a:endParaRPr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0025" y="1860194"/>
            <a:ext cx="457200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0033" y="2045845"/>
            <a:ext cx="1473480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API 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優化重點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909" y="2588969"/>
            <a:ext cx="231024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提升資料傳輸效率</a:t>
            </a:r>
            <a:r>
              <a:rPr lang="zh-TW" altLang="en-US"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lang="en-US" altLang="zh-TW"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&amp;</a:t>
            </a:r>
            <a:r>
              <a:rPr lang="zh-TW" altLang="en-US"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 容錯率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909" y="3061320"/>
            <a:ext cx="155683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優化錯誤處理機制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26894" y="3557056"/>
            <a:ext cx="1899879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增強安全性與認證流程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59975" y="1860194"/>
            <a:ext cx="4805682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2323" y="1961066"/>
            <a:ext cx="1677062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跨系統整合目標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81883" y="2561791"/>
            <a:ext cx="1899879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建立統一資料交換標準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93657" y="2922821"/>
            <a:ext cx="4572000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實現系統間無縫連接</a:t>
            </a:r>
            <a:r>
              <a:rPr lang="zh-TW" altLang="en-US" sz="1330" dirty="0"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lang="en-US" altLang="zh-TW" sz="1330" dirty="0">
                <a:latin typeface="芫荽" pitchFamily="2" charset="-120"/>
                <a:ea typeface="芫荽" pitchFamily="2" charset="-120"/>
                <a:cs typeface="芫荽" pitchFamily="2" charset="-120"/>
              </a:rPr>
              <a:t>&amp;</a:t>
            </a:r>
            <a:r>
              <a:rPr lang="zh-TW" altLang="en-US" sz="1330" dirty="0">
                <a:latin typeface="芫荽" pitchFamily="2" charset="-120"/>
                <a:ea typeface="芫荽" pitchFamily="2" charset="-120"/>
                <a:cs typeface="芫荽" pitchFamily="2" charset="-120"/>
              </a:rPr>
              <a:t> 異常拋錯統一，提升後端維運效率</a:t>
            </a:r>
            <a:endParaRPr sz="133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93657" y="3259602"/>
            <a:ext cx="1213794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降低維護成本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75543" y="3638176"/>
            <a:ext cx="138531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提高系統擴展性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AA6228F-7DD7-C7CE-FA70-5394027F4EBE}"/>
              </a:ext>
            </a:extLst>
          </p:cNvPr>
          <p:cNvSpPr txBox="1">
            <a:spLocks/>
          </p:cNvSpPr>
          <p:nvPr/>
        </p:nvSpPr>
        <p:spPr>
          <a:xfrm>
            <a:off x="4375150" y="522047"/>
            <a:ext cx="3441700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zh-TW" altLang="en-US" sz="3600" b="1" dirty="0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小組內</a:t>
            </a:r>
            <a:r>
              <a:rPr lang="en-US" altLang="zh-TW" sz="3600" b="1" dirty="0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API</a:t>
            </a:r>
            <a:r>
              <a:rPr lang="zh-TW" altLang="en-US" sz="3600" b="1" dirty="0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優化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BD0C3A-CC89-363F-4D79-0199E270A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489" y="4146194"/>
            <a:ext cx="2737574" cy="2737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0" y="13716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412899"/>
            <a:ext cx="2103461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lang="zh-TW" altLang="en-US"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異常偵測與警示模組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411" y="1941346"/>
            <a:ext cx="4987263" cy="502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開發自動偵測與通知系統異常事件的警示機制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，</a:t>
            </a:r>
            <a:endParaRPr lang="en-US"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提高系統問題的反應速度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，</a:t>
            </a:r>
            <a:r>
              <a:rPr lang="zh-TW" altLang="en-US"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搭配當前派報，</a:t>
            </a: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減少人工監控成本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0" y="13716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0" y="1418010"/>
            <a:ext cx="274305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lang="zh-TW" altLang="en-US"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設備健康度監測與趨勢分析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43639" y="1912346"/>
            <a:ext cx="3958135" cy="502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建立設備健康狀態監測與視覺化展示系統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，</a:t>
            </a:r>
            <a:endParaRPr lang="en-US"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協助維護人員預判設備狀態，提前安排維護作業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30480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0" y="3093234"/>
            <a:ext cx="2103461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lang="zh-TW" altLang="en-US"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預防性維護預警機制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411" y="3642640"/>
            <a:ext cx="4815742" cy="502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開發設備預防性維護排程與自動提醒系統，降低設備故障率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，</a:t>
            </a:r>
            <a:endParaRPr lang="en-US"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延長設備使用壽命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7000" y="30480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7000" y="3105588"/>
            <a:ext cx="1890261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lang="zh-TW" altLang="en-US"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機台維修歷史查詢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8058" y="3734012"/>
            <a:ext cx="4815742" cy="502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開發設備維修記錄查詢系統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，</a:t>
            </a:r>
            <a:endParaRPr lang="en-US"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追蹤維修歷史與分析故障模式，協助技術人員快速診斷問題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47244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2411" y="4771081"/>
            <a:ext cx="1890261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lang="zh-TW" altLang="en-US"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警報分級通知管理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8200" y="5535452"/>
            <a:ext cx="3272050" cy="502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建立告警分級機制與權限管理系統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，</a:t>
            </a:r>
            <a:endParaRPr lang="en-US"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確保通知送達適當人員，提高處理效率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9F87AD3-F4A6-60EA-4203-DC7469929E7F}"/>
              </a:ext>
            </a:extLst>
          </p:cNvPr>
          <p:cNvSpPr txBox="1">
            <a:spLocks/>
          </p:cNvSpPr>
          <p:nvPr/>
        </p:nvSpPr>
        <p:spPr>
          <a:xfrm>
            <a:off x="4586086" y="459038"/>
            <a:ext cx="3029824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監控與維護項目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43000" y="1371600"/>
            <a:ext cx="9906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06413" y="1463549"/>
            <a:ext cx="3358612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操作介面</a:t>
            </a:r>
            <a:r>
              <a:rPr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 (UI) </a:t>
            </a: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優化與主題切換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1072" y="1928288"/>
            <a:ext cx="6873998" cy="502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旨在提升系統操作介面的使用體驗，增加主題切換功能，並優化各功能模組的視覺呈現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  <a:endParaRPr lang="en-US"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透過改善使用者介面，提高系統易用性與工作效率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200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91072" y="3349864"/>
            <a:ext cx="2472152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多主題支援（明亮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/</a:t>
            </a: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暗黑模式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3200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66765" y="3351856"/>
            <a:ext cx="1042273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響應式設計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3000" y="3962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06413" y="4114800"/>
            <a:ext cx="138531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無障礙功能優化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0" y="3962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7386" y="4114800"/>
            <a:ext cx="155683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儀表板視覺化改進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43000" y="4724400"/>
            <a:ext cx="9906000" cy="13716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4149" y="4816661"/>
            <a:ext cx="1037463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預期效益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4149" y="5270260"/>
            <a:ext cx="2414444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提升使用者滿意度與操作效率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66765" y="5270260"/>
            <a:ext cx="172835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降低</a:t>
            </a:r>
            <a:r>
              <a:rPr lang="zh-TW" altLang="en-US"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使用者操作難度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84149" y="5659792"/>
            <a:ext cx="2242922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提高系統可用性與可訪問性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65189" y="5638800"/>
            <a:ext cx="1213794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統一視覺風格</a:t>
            </a:r>
            <a:endParaRPr sz="13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4FB9150-09B5-8A75-B981-DEA581D78651}"/>
              </a:ext>
            </a:extLst>
          </p:cNvPr>
          <p:cNvSpPr txBox="1">
            <a:spLocks/>
          </p:cNvSpPr>
          <p:nvPr/>
        </p:nvSpPr>
        <p:spPr>
          <a:xfrm>
            <a:off x="4158497" y="436286"/>
            <a:ext cx="4013384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使用者介面優化說明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891</Words>
  <Application>Microsoft Office PowerPoint</Application>
  <PresentationFormat>寬螢幕</PresentationFormat>
  <Paragraphs>204</Paragraphs>
  <Slides>19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芫荽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細項項目說明</vt:lpstr>
      <vt:lpstr>細項項目說明</vt:lpstr>
      <vt:lpstr>細項項目說明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睿穎 詹</dc:creator>
  <cp:lastModifiedBy>睿穎 詹</cp:lastModifiedBy>
  <cp:revision>108</cp:revision>
  <dcterms:created xsi:type="dcterms:W3CDTF">2025-10-07T10:11:04Z</dcterms:created>
  <dcterms:modified xsi:type="dcterms:W3CDTF">2025-10-09T14:26:46Z</dcterms:modified>
</cp:coreProperties>
</file>