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8" r:id="rId6"/>
    <p:sldId id="269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68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60AB6-62CA-4EB7-967F-AD7C072C9520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8DD8F6-82F0-46FC-A7AF-86D878989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9584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DD8F6-82F0-46FC-A7AF-86D87898916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435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9314A1-DFA2-4D79-A6E8-EE06CE1F66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F9C16FB-BCED-BE65-9650-9E4BAE8713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B97191D-9E25-9DB0-3D04-8F3B6E8C2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68E268-D01C-475B-454E-47232D419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834F3F8-0F1C-1D0D-611E-ECE8A9A4B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2362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D9A632-3E56-74A4-39BB-E1F81CE54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50F6AC-78A8-81FC-FABE-D66894A645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E5714B-CADE-A4DD-B572-4FCC61CFB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259B702-E10D-21B4-7E5C-C3BF35E35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CCFA39-D83B-2642-F0F9-25E0B7D59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9075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436BB9-2B88-E2E3-9AF8-92DDD75E1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8403520-1064-4DEF-6B6E-4FF2AC211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621DDC3-F1BD-F73B-6C58-E445F9BFB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289B1E-6371-246D-26A4-77697C5ED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25A38D-67F5-059B-6D8E-9B91CC59D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9243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9DA281-228B-F498-7CE2-7716719B7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EC8C84-9523-549D-E087-454DA306E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F8E5DE1-9607-3023-1FEB-5C4381C556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91EB258-220C-747C-FC47-3F1188295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5D3B671-AAC4-3C7B-A92C-96A907F79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F932E4B-EC50-CF44-AB9B-26FE5F96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132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53629-3586-A1FD-907D-A62DDF4A5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C08771D-2E6A-362E-1BCA-5F190CDF5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90ABEB7-BECF-7B73-A042-D1B3E05BC5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653F3C1-4D23-E694-3950-DD804B666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7163397-9333-8A46-3CA7-C91CC4A37B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F17E476-DE0F-DDF7-DCAB-1ED8F6AE6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4349A9F-0B0F-4B40-F2A4-0FAE8CCB5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A938BF8-8F39-3D35-7E64-C8E0348C3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5343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837F69-83CD-A737-3589-CE969630A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F3B3136-5D36-9A16-82C1-B022D83A3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7E39D83-D7B8-009B-7E33-C9B77A535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0BB40BD-DB79-09C9-0F45-9C7BDB71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496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1F473E8-44D2-481C-89B4-0EED5B9C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CBE31D1-497A-26C7-D6A0-2DCAD6580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7AFA74-9049-0C5E-7FD6-32692D346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5027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38BE0E-1141-BEC8-B1A5-EF62F5A2C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5660B19-0C3E-CB27-6FBC-A6FC49582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5FC73DA-C947-EC7B-D237-58339A1AAE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AB2A1F0-6730-6E60-EA74-0340598DC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A8D11EF-51F9-5789-4D9C-D6C056924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A2E36E0-1708-2937-0AB6-5C0AD875E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841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B9DCF-A0BB-6FBB-2F79-49812C9D3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645EFD4-D8E9-B6DC-7136-E45317572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EAB163-D7A2-AE5A-3F7D-417F9CEBE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8550E38-F1DB-63DA-94E2-A97A2202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C1EBC7F-165D-49A8-4FFF-FDEDA9D41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17BDA3-4281-023E-4BCC-99B5F54D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169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6DDD32-7D0B-094E-1578-57C9AC58C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EC4BDF9-CEC2-D7FF-9883-D5E0B239C8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47210B5-AA54-B601-203E-45BEA4150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BB22B1C-558E-1C44-4352-6B7010AA8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C3EC0B-5862-530D-6625-A4EB00AF2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9917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46A1B8F-C066-A970-E3A1-078ACA0FDB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D644278-BFCE-3CE7-7EED-F253F4DD19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C8C6C00-9712-6249-29AF-418649FB2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79D3E2E-9CC3-0DC3-CF4D-0427A6ED0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C2D076A-E55B-BB89-0815-5F2181485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2528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19AD27F-0F55-0CD3-A433-28387879C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8388D0E-DE2B-CF1F-38E3-009C63C9E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55BA333-5A51-3C25-4F1E-E63855B508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ED8F4-6452-4BAD-8256-AA60B3005C24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8926444-8094-7CC9-2605-87EED00B68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BEE06D-271F-520B-A6A3-6755939F28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B5204F-2984-4993-879A-131CC6B281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3891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33B55-BC34-D049-6B04-6410687BA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141A308E-D258-45A6-9298-FB5A4EF951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44" y="1008195"/>
            <a:ext cx="11033911" cy="54307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E23F04BD-15AA-6E9D-336B-7FE6B75261BE}"/>
              </a:ext>
            </a:extLst>
          </p:cNvPr>
          <p:cNvSpPr/>
          <p:nvPr/>
        </p:nvSpPr>
        <p:spPr>
          <a:xfrm>
            <a:off x="4985820" y="368260"/>
            <a:ext cx="2220359" cy="404991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當前中控警醒介面</a:t>
            </a:r>
          </a:p>
        </p:txBody>
      </p:sp>
    </p:spTree>
    <p:extLst>
      <p:ext uri="{BB962C8B-B14F-4D97-AF65-F5344CB8AC3E}">
        <p14:creationId xmlns:p14="http://schemas.microsoft.com/office/powerpoint/2010/main" val="30298456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63DD3-4F05-DC8B-9156-16795414D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85AB501-DF02-2D84-45EA-4413EC34324C}"/>
              </a:ext>
            </a:extLst>
          </p:cNvPr>
          <p:cNvSpPr/>
          <p:nvPr/>
        </p:nvSpPr>
        <p:spPr>
          <a:xfrm>
            <a:off x="4322580" y="411218"/>
            <a:ext cx="3546837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會有兩種形式</a:t>
            </a:r>
            <a:r>
              <a:rPr lang="en-US" altLang="zh-TW" sz="2000" b="1" kern="0" dirty="0">
                <a:solidFill>
                  <a:prstClr val="black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 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In/Out &amp; WIP</a:t>
            </a:r>
            <a:endParaRPr kumimoji="0" lang="zh-TW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E820167-0E59-56BC-5E14-9760610EC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542" y="1174227"/>
            <a:ext cx="11002911" cy="54014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769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23D29-9C39-111C-0B8E-14BA31B5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848C7E08-BB7D-B0F1-0366-39BC9F483C74}"/>
              </a:ext>
            </a:extLst>
          </p:cNvPr>
          <p:cNvSpPr/>
          <p:nvPr/>
        </p:nvSpPr>
        <p:spPr>
          <a:xfrm>
            <a:off x="2103973" y="584864"/>
            <a:ext cx="3581510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lvl="0" defTabSz="890402"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顯示過往 </a:t>
            </a:r>
            <a:r>
              <a:rPr lang="en-US" altLang="zh-TW" sz="2000" b="1" kern="0" dirty="0">
                <a:solidFill>
                  <a:prstClr val="black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In/Out </a:t>
            </a: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紀錄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(</a:t>
            </a: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折線圖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)</a:t>
            </a:r>
            <a:endParaRPr kumimoji="0" lang="zh-TW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AA958EB-436E-CF99-3318-5EAB9FB84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612" y="1327988"/>
            <a:ext cx="6988232" cy="45450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3E1E9BC-9486-1EF5-E80F-96E1418B7BDB}"/>
              </a:ext>
            </a:extLst>
          </p:cNvPr>
          <p:cNvSpPr/>
          <p:nvPr/>
        </p:nvSpPr>
        <p:spPr>
          <a:xfrm>
            <a:off x="8936478" y="584864"/>
            <a:ext cx="1762223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即時機故上拋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00E0CC16-9780-C7E0-41F3-CE34D484A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596" y="1327988"/>
            <a:ext cx="4344889" cy="45304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924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308D3-B962-B6C9-6030-87C96BB21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57B709F-209B-770A-ACC0-D5A64F262EA1}"/>
              </a:ext>
            </a:extLst>
          </p:cNvPr>
          <p:cNvSpPr/>
          <p:nvPr/>
        </p:nvSpPr>
        <p:spPr>
          <a:xfrm>
            <a:off x="2272738" y="427445"/>
            <a:ext cx="3243979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顯示 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WIP </a:t>
            </a: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過往紀錄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(</a:t>
            </a: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折線圖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)</a:t>
            </a:r>
            <a:endParaRPr kumimoji="0" lang="zh-TW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96FB31-52A5-6ACE-1481-44132485AECB}"/>
              </a:ext>
            </a:extLst>
          </p:cNvPr>
          <p:cNvSpPr/>
          <p:nvPr/>
        </p:nvSpPr>
        <p:spPr>
          <a:xfrm>
            <a:off x="8980928" y="394156"/>
            <a:ext cx="2268033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2000" b="1" kern="0" dirty="0">
                <a:solidFill>
                  <a:prstClr val="black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即時搬運異常</a:t>
            </a: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上拋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9DB26EA-E280-3D23-7E10-6B151E969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51" y="1266947"/>
            <a:ext cx="7908415" cy="4546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68322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DB965-FD63-5E9D-ECB3-6BB08CD6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AE95B62-4979-3534-2BFA-7CB4A59AC29F}"/>
              </a:ext>
            </a:extLst>
          </p:cNvPr>
          <p:cNvSpPr/>
          <p:nvPr/>
        </p:nvSpPr>
        <p:spPr>
          <a:xfrm>
            <a:off x="4119948" y="488814"/>
            <a:ext cx="4238527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顯示過往</a:t>
            </a:r>
            <a:r>
              <a:rPr lang="zh-TW" altLang="en-US" sz="2000" b="1" kern="0" dirty="0">
                <a:solidFill>
                  <a:prstClr val="black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派報紀錄</a:t>
            </a:r>
            <a:r>
              <a:rPr lang="en-US" altLang="zh-TW" sz="2000" b="1" kern="0" dirty="0">
                <a:solidFill>
                  <a:prstClr val="black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&amp;</a:t>
            </a:r>
            <a:r>
              <a:rPr lang="zh-TW" altLang="en-US" sz="2000" b="1" kern="0" dirty="0">
                <a:solidFill>
                  <a:prstClr val="black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分析</a:t>
            </a:r>
            <a:endParaRPr kumimoji="0" lang="zh-TW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81CBD6E3-3E3C-A8DA-5A5A-E64E14FAFB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948301"/>
              </p:ext>
            </p:extLst>
          </p:nvPr>
        </p:nvGraphicFramePr>
        <p:xfrm>
          <a:off x="457200" y="1371600"/>
          <a:ext cx="82296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時間</a:t>
                      </a:r>
                      <a:endParaRPr dirty="0"/>
                    </a:p>
                  </a:txBody>
                  <a:tcP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設備編號</a:t>
                      </a:r>
                    </a:p>
                  </a:txBody>
                  <a:tcP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超時時間</a:t>
                      </a:r>
                    </a:p>
                  </a:txBody>
                  <a:tcP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狀態</a:t>
                      </a:r>
                    </a:p>
                  </a:txBody>
                  <a:tcPr>
                    <a:solidFill>
                      <a:srgbClr val="2A43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2025-06-13 12:00:03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3260-A12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3260-A16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C8181"/>
                          </a:solidFill>
                        </a:defRPr>
                      </a:pPr>
                      <a:r>
                        <a:t>200分鐘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2025-06-13 12:50:03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3260-A12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3260-A16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C8181"/>
                          </a:solidFill>
                        </a:defRPr>
                      </a:pPr>
                      <a:r>
                        <a:t>250分鐘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2025-06-16 02:23:00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3260-A16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3260-A19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65分鐘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2025-06-15 03:13:00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3260-A15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3260-A13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C8181"/>
                          </a:solidFill>
                        </a:defRPr>
                      </a:pPr>
                      <a:r>
                        <a:t>126分鐘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2025-06-17 23:47:00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3260-A11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3260-A15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C8181"/>
                          </a:solidFill>
                        </a:defRPr>
                      </a:pPr>
                      <a:r>
                        <a:t>127分鐘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已解決</a:t>
                      </a:r>
                      <a:endParaRPr dirty="0"/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B38AD031-EFED-9C6E-03C0-77111AACBCEE}"/>
              </a:ext>
            </a:extLst>
          </p:cNvPr>
          <p:cNvSpPr txBox="1"/>
          <p:nvPr/>
        </p:nvSpPr>
        <p:spPr>
          <a:xfrm>
            <a:off x="556460" y="760930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搬運作業紀錄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8B149EB-B71B-735F-D36C-52384F47BEC4}"/>
              </a:ext>
            </a:extLst>
          </p:cNvPr>
          <p:cNvSpPr txBox="1"/>
          <p:nvPr/>
        </p:nvSpPr>
        <p:spPr>
          <a:xfrm>
            <a:off x="9399670" y="2526268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烘烤作業紀錄</a:t>
            </a:r>
          </a:p>
        </p:txBody>
      </p:sp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899D98A9-7366-1064-0C26-50B9C94792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84317"/>
              </p:ext>
            </p:extLst>
          </p:nvPr>
        </p:nvGraphicFramePr>
        <p:xfrm>
          <a:off x="457200" y="3810000"/>
          <a:ext cx="8229600" cy="3048000"/>
        </p:xfrm>
        <a:graphic>
          <a:graphicData uri="http://schemas.openxmlformats.org/drawingml/2006/table">
            <a:tbl>
              <a:tblPr firstRow="1" bandRow="1"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0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4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時間</a:t>
                      </a:r>
                      <a:endParaRPr dirty="0"/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設備編號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超時時間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狀態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43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2025-06-13 12:00:03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3260-A15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3260-A19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50分鐘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2025-06-13 12:50:03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3260-A17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3260-A19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100分鐘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2025-06-14 20:08:00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3260-B14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3260-B16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C8181"/>
                          </a:solidFill>
                        </a:defRPr>
                      </a:pPr>
                      <a:r>
                        <a:t>121分鐘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2025-06-17 17:41:00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3260-B14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3260-B17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80分鐘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已解決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2025-06-13 13:38:00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3260-B12</a:t>
                      </a:r>
                    </a:p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3260-B15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C8181"/>
                          </a:solidFill>
                        </a:defRPr>
                      </a:pPr>
                      <a:r>
                        <a:rPr dirty="0"/>
                        <a:t>129分鐘</a:t>
                      </a:r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已解決</a:t>
                      </a:r>
                      <a:endParaRPr dirty="0"/>
                    </a:p>
                  </a:txBody>
                  <a:tcPr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3885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F9B94-A5B0-8BA2-9B64-F731E761F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E4CB583-8B06-C5C3-68EC-115D92CA6A7A}"/>
              </a:ext>
            </a:extLst>
          </p:cNvPr>
          <p:cNvSpPr/>
          <p:nvPr/>
        </p:nvSpPr>
        <p:spPr>
          <a:xfrm>
            <a:off x="3073201" y="309754"/>
            <a:ext cx="1823652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派報趨勢曲線</a:t>
            </a:r>
          </a:p>
        </p:txBody>
      </p:sp>
      <p:pic>
        <p:nvPicPr>
          <p:cNvPr id="3" name="Picture 3" descr="hourly_dispatch_chart.png">
            <a:extLst>
              <a:ext uri="{FF2B5EF4-FFF2-40B4-BE49-F238E27FC236}">
                <a16:creationId xmlns:a16="http://schemas.microsoft.com/office/drawing/2014/main" id="{2790ACB1-2A93-5501-EC7F-D1EA2922D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27" y="1155032"/>
            <a:ext cx="7315200" cy="2286000"/>
          </a:xfrm>
          <a:prstGeom prst="rect">
            <a:avLst/>
          </a:prstGeom>
        </p:spPr>
      </p:pic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893E37-BA79-7F55-0295-CB1211312B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326148"/>
              </p:ext>
            </p:extLst>
          </p:nvPr>
        </p:nvGraphicFramePr>
        <p:xfrm>
          <a:off x="1134694" y="4078704"/>
          <a:ext cx="616876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2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2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2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835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時段</a:t>
                      </a:r>
                    </a:p>
                  </a:txBody>
                  <a:tcP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派報數量</a:t>
                      </a:r>
                      <a:endParaRPr dirty="0"/>
                    </a:p>
                  </a:txBody>
                  <a:tcP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超時比例</a:t>
                      </a:r>
                    </a:p>
                  </a:txBody>
                  <a:tcPr>
                    <a:solidFill>
                      <a:srgbClr val="2A43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主要問題設備</a:t>
                      </a:r>
                    </a:p>
                  </a:txBody>
                  <a:tcPr>
                    <a:solidFill>
                      <a:srgbClr val="2A43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30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早班 (06:00-14:00)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3260-A12, 3260-A16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30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中班 (14:00-22:00)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中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3260-B14, 3260-B16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30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夜班 (22:00-06:00)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3260-A15, 3260-A19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06AB8129-1557-03CB-40A3-F9297D2A1081}"/>
              </a:ext>
            </a:extLst>
          </p:cNvPr>
          <p:cNvSpPr/>
          <p:nvPr/>
        </p:nvSpPr>
        <p:spPr>
          <a:xfrm>
            <a:off x="8750369" y="488814"/>
            <a:ext cx="1295999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問題分析</a:t>
            </a:r>
          </a:p>
        </p:txBody>
      </p:sp>
      <p:graphicFrame>
        <p:nvGraphicFramePr>
          <p:cNvPr id="8" name="Table 3">
            <a:extLst>
              <a:ext uri="{FF2B5EF4-FFF2-40B4-BE49-F238E27FC236}">
                <a16:creationId xmlns:a16="http://schemas.microsoft.com/office/drawing/2014/main" id="{F51E6DA0-62C8-2A1B-828A-1935346717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715153"/>
              </p:ext>
            </p:extLst>
          </p:nvPr>
        </p:nvGraphicFramePr>
        <p:xfrm>
          <a:off x="4752473" y="1696453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 gridSpan="2"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主要問題分析</a:t>
                      </a:r>
                    </a:p>
                  </a:txBody>
                  <a:tcPr>
                    <a:solidFill>
                      <a:srgbClr val="2A4365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設備維護不足：多數超時事件與設備故障相關，特別是3260-A12、3260-A16和3260-A19設備頻繁出現問題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👥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人力資源配置不當：夜間和清晨時段（22:00-06:00）超時情況明顯增加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⏱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監控頻率不足：每50分鐘檢查一次，導致部分問題無法及時發現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🔄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流程協調問題：搬運與烘烤作業之間的銜接存在延遲，影響整體生產效率</a:t>
                      </a:r>
                      <a:endParaRPr dirty="0"/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0298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8F912-036A-3525-684B-83DF9AC7D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D7143379-F294-AC9D-2A1A-87EFAF686D3A}"/>
              </a:ext>
            </a:extLst>
          </p:cNvPr>
          <p:cNvSpPr/>
          <p:nvPr/>
        </p:nvSpPr>
        <p:spPr>
          <a:xfrm>
            <a:off x="546331" y="215600"/>
            <a:ext cx="3197186" cy="400110"/>
          </a:xfrm>
          <a:prstGeom prst="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89040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預計要做的項目 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&amp;</a:t>
            </a:r>
            <a:r>
              <a:rPr kumimoji="0" lang="zh-TW" alt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芫荽" pitchFamily="2" charset="-120"/>
                <a:ea typeface="芫荽" pitchFamily="2" charset="-120"/>
                <a:cs typeface="芫荽" pitchFamily="2" charset="-120"/>
              </a:rPr>
              <a:t> </a:t>
            </a:r>
            <a:r>
              <a:rPr lang="en-US" altLang="zh-TW" sz="2000" b="1" kern="0" dirty="0">
                <a:solidFill>
                  <a:prstClr val="black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Owner</a:t>
            </a:r>
            <a:endParaRPr kumimoji="0" lang="zh-TW" altLang="en-US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7D5C1C55-F81A-F43C-D5C5-1C2E02EAF3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845927"/>
              </p:ext>
            </p:extLst>
          </p:nvPr>
        </p:nvGraphicFramePr>
        <p:xfrm>
          <a:off x="546331" y="810972"/>
          <a:ext cx="822960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項目</a:t>
                      </a:r>
                      <a:endParaRPr sz="1400" b="1" dirty="0">
                        <a:solidFill>
                          <a:srgbClr val="FFFFFF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Owner</a:t>
                      </a:r>
                    </a:p>
                  </a:txBody>
                  <a:tcPr>
                    <a:solidFill>
                      <a:srgbClr val="4CA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IN/OUT </a:t>
                      </a:r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過往紀錄繪製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瑞寶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WIP 過往紀錄繪製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杰軒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機故上拋API優化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杰軒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搬運監控上拋API優化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杰軒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異常事件自動警示模組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瑞寶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設備健康度趨勢圖繪製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瑞寶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預防性維護提醒機制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睿穎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自動報表產出與導出功能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杰軒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跨系統 API 整合介面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睿穎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操作介面 (UI) 優化與主題切換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杰軒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歷史資料趨勢分析與統計圖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瑞寶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機台維修歷歷查詢模組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睿穎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告警分級與權限通知設定</a:t>
                      </a:r>
                      <a:endParaRPr sz="1400" dirty="0">
                        <a:solidFill>
                          <a:srgbClr val="333333"/>
                        </a:solidFill>
                        <a:latin typeface="芫荽" pitchFamily="2" charset="-120"/>
                        <a:ea typeface="芫荽" pitchFamily="2" charset="-120"/>
                        <a:cs typeface="芫荽" pitchFamily="2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33333"/>
                          </a:solidFill>
                          <a:latin typeface="芫荽" pitchFamily="2" charset="-120"/>
                          <a:ea typeface="芫荽" pitchFamily="2" charset="-120"/>
                          <a:cs typeface="芫荽" pitchFamily="2" charset="-120"/>
                        </a:rPr>
                        <a:t>睿穎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pic>
        <p:nvPicPr>
          <p:cNvPr id="13" name="圖片 12" descr="一張含有 卡通, 圖畫, 美工圖案, 圖解 的圖片&#10;&#10;AI 產生的內容可能不正確。">
            <a:extLst>
              <a:ext uri="{FF2B5EF4-FFF2-40B4-BE49-F238E27FC236}">
                <a16:creationId xmlns:a16="http://schemas.microsoft.com/office/drawing/2014/main" id="{48D7F49A-77F4-3D5B-3296-AF7D4C01E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200" y="3200400"/>
            <a:ext cx="3962400" cy="3962400"/>
          </a:xfrm>
          <a:prstGeom prst="rect">
            <a:avLst/>
          </a:prstGeom>
        </p:spPr>
      </p:pic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D7FAFBAB-178F-6417-8657-816DDA22C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" y="5078172"/>
            <a:ext cx="8572500" cy="178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24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2999" y="614100"/>
            <a:ext cx="3441700" cy="485775"/>
          </a:xfrm>
        </p:spPr>
        <p:txBody>
          <a:bodyPr>
            <a:normAutofit fontScale="90000"/>
          </a:bodyPr>
          <a:lstStyle/>
          <a:p>
            <a:pPr algn="ctr">
              <a:defRPr sz="3600" b="1">
                <a:solidFill>
                  <a:srgbClr val="4CAF50"/>
                </a:solidFill>
              </a:defRPr>
            </a:pPr>
            <a:r>
              <a:rPr lang="zh-TW" altLang="en-US" dirty="0">
                <a:latin typeface="芫荽" pitchFamily="2" charset="-120"/>
                <a:ea typeface="芫荽" pitchFamily="2" charset="-120"/>
                <a:cs typeface="芫荽" pitchFamily="2" charset="-120"/>
              </a:rPr>
              <a:t>睿穎負責項目</a:t>
            </a:r>
            <a:endParaRPr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143000" y="1371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3000" y="1457062"/>
            <a:ext cx="2393604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跨系統</a:t>
            </a:r>
            <a:r>
              <a:rPr sz="1833" dirty="0">
                <a:latin typeface="芫荽" pitchFamily="2" charset="-120"/>
                <a:ea typeface="芫荽" pitchFamily="2" charset="-120"/>
                <a:cs typeface="芫荽" pitchFamily="2" charset="-120"/>
              </a:rPr>
              <a:t> API </a:t>
            </a: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整合介面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43000" y="1913927"/>
            <a:ext cx="793295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開發不同系統間的</a:t>
            </a:r>
            <a:r>
              <a:rPr sz="1500" dirty="0">
                <a:latin typeface="芫荽" pitchFamily="2" charset="-120"/>
                <a:ea typeface="芫荽" pitchFamily="2" charset="-120"/>
                <a:cs typeface="芫荽" pitchFamily="2" charset="-120"/>
              </a:rPr>
              <a:t> API </a:t>
            </a: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整合介面，確保數據流通與系統互通性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43000" y="2514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585370"/>
            <a:ext cx="3518069" cy="374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歷史資料趨勢分析與統計圖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3000" y="3039666"/>
            <a:ext cx="441659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建立歷史數據分析功能，提供趨勢圖表與統計報告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143000" y="3657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43000" y="3740067"/>
            <a:ext cx="2541080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機台維修歷史查詢模組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3000" y="4181650"/>
            <a:ext cx="518603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開發設備維修記錄查詢系統，追蹤維修歷史與分析故障模式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43000" y="4800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43000" y="4902271"/>
            <a:ext cx="2776722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告警分級與權限通知設定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2999" y="5324817"/>
            <a:ext cx="518603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建立告警分級機制與權限管理系統，確保通知送達適當人員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43000" y="1371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71649" y="1454402"/>
            <a:ext cx="2501006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>
                <a:latin typeface="芫荽" pitchFamily="2" charset="-120"/>
                <a:ea typeface="芫荽" pitchFamily="2" charset="-120"/>
                <a:cs typeface="芫荽" pitchFamily="2" charset="-120"/>
              </a:rPr>
              <a:t>IN/OUT </a:t>
            </a: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過往紀錄</a:t>
            </a:r>
            <a:r>
              <a:rPr lang="zh-TW" altLang="en-US" sz="1833" dirty="0">
                <a:latin typeface="芫荽" pitchFamily="2" charset="-120"/>
                <a:ea typeface="芫荽" pitchFamily="2" charset="-120"/>
                <a:cs typeface="芫荽" pitchFamily="2" charset="-120"/>
              </a:rPr>
              <a:t>繪</a:t>
            </a:r>
            <a:r>
              <a:rPr sz="1833" dirty="0">
                <a:latin typeface="芫荽" pitchFamily="2" charset="-120"/>
                <a:ea typeface="芫荽" pitchFamily="2" charset="-120"/>
                <a:cs typeface="芫荽" pitchFamily="2" charset="-120"/>
              </a:rPr>
              <a:t>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1649" y="1875219"/>
            <a:ext cx="441659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建立系統進出歷史數據視覺化圖表，提供趨勢分析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43000" y="2514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2999" y="2569855"/>
            <a:ext cx="2541080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異常事件自動警示模組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2999" y="3020453"/>
            <a:ext cx="40318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開發自動偵測與通知系統異常事件的警示機制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143000" y="3657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66424" y="3755980"/>
            <a:ext cx="2541080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設備健康度趨勢圖繪製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2999" y="4188213"/>
            <a:ext cx="364715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建立設備健康狀態監測與視覺化展示系統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43000" y="4800600"/>
            <a:ext cx="9906000" cy="9144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6424" y="4854792"/>
            <a:ext cx="2305439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預防性維護提醒機制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2999" y="5283382"/>
            <a:ext cx="364715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sz="1500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開發設備預防性維護排程與自動提醒系統</a:t>
            </a:r>
            <a:endParaRPr sz="1500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632E5EE-6721-A3E8-D394-153D31A36454}"/>
              </a:ext>
            </a:extLst>
          </p:cNvPr>
          <p:cNvSpPr txBox="1">
            <a:spLocks/>
          </p:cNvSpPr>
          <p:nvPr/>
        </p:nvSpPr>
        <p:spPr>
          <a:xfrm>
            <a:off x="1142999" y="614100"/>
            <a:ext cx="3441700" cy="485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 sz="3600" b="1">
                <a:solidFill>
                  <a:srgbClr val="4CAF50"/>
                </a:solidFill>
              </a:defRPr>
            </a:pPr>
            <a:r>
              <a:rPr lang="zh-TW" altLang="en-US" sz="3600" b="1" dirty="0">
                <a:solidFill>
                  <a:srgbClr val="4CAF50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瑞寶負責項目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66800" y="1270000"/>
            <a:ext cx="9906000" cy="8382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57237" y="1306971"/>
            <a:ext cx="1939955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>
                <a:latin typeface="芫荽" pitchFamily="2" charset="-120"/>
                <a:ea typeface="芫荽" pitchFamily="2" charset="-120"/>
                <a:cs typeface="芫荽" pitchFamily="2" charset="-120"/>
              </a:rPr>
              <a:t>WIP </a:t>
            </a: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過往紀錄縮製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9319" y="1703353"/>
            <a:ext cx="6926896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開發工作中產品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(WIP)</a:t>
            </a: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歷史數據的壓縮與整合功能，提升系統效能並優化儲存空間利用率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800" y="2260600"/>
            <a:ext cx="9906000" cy="8382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799" y="2282122"/>
            <a:ext cx="1975221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lang="zh-TW" altLang="en-US" sz="1667" dirty="0">
                <a:latin typeface="芫荽" pitchFamily="2" charset="-120"/>
                <a:ea typeface="芫荽" pitchFamily="2" charset="-120"/>
                <a:cs typeface="芫荽" pitchFamily="2" charset="-120"/>
              </a:rPr>
              <a:t>機</a:t>
            </a: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故上拋</a:t>
            </a:r>
            <a:r>
              <a:rPr sz="1667" dirty="0">
                <a:latin typeface="芫荽" pitchFamily="2" charset="-120"/>
                <a:ea typeface="芫荽" pitchFamily="2" charset="-120"/>
                <a:cs typeface="芫荽" pitchFamily="2" charset="-120"/>
              </a:rPr>
              <a:t> API </a:t>
            </a: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優化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6799" y="2703106"/>
            <a:ext cx="6936514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lang="zh-TW" altLang="en-US"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重</a:t>
            </a: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構機器故障數據上傳API，提升傳輸效率、強化錯誤處理機制，並實現標準化API文檔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800" y="3251199"/>
            <a:ext cx="9906000" cy="8382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6799" y="3273065"/>
            <a:ext cx="2401619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搬運監控上拋</a:t>
            </a:r>
            <a:r>
              <a:rPr sz="1667" dirty="0">
                <a:latin typeface="芫荽" pitchFamily="2" charset="-120"/>
                <a:ea typeface="芫荽" pitchFamily="2" charset="-120"/>
                <a:cs typeface="芫荽" pitchFamily="2" charset="-120"/>
              </a:rPr>
              <a:t> API </a:t>
            </a: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優化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6799" y="3703436"/>
            <a:ext cx="6187912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優化物料搬運監控數據傳輸介面，增強安全性與認證流程，提高數據傳輸效率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6800" y="4241800"/>
            <a:ext cx="9906000" cy="8382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7237" y="4241866"/>
            <a:ext cx="2529860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自動報表產出與導出功能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66799" y="4635566"/>
            <a:ext cx="6359433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開發自動化報表生成系統，支援多種格式導出，並實現定時產出與自動分發功能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6800" y="5232400"/>
            <a:ext cx="9906000" cy="8382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57237" y="5217017"/>
            <a:ext cx="3063659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操作介面</a:t>
            </a:r>
            <a:r>
              <a:rPr sz="1667" dirty="0">
                <a:latin typeface="芫荽" pitchFamily="2" charset="-120"/>
                <a:ea typeface="芫荽" pitchFamily="2" charset="-120"/>
                <a:cs typeface="芫荽" pitchFamily="2" charset="-120"/>
              </a:rPr>
              <a:t> (UI) </a:t>
            </a: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優化與主題切換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57237" y="5669520"/>
            <a:ext cx="6530955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lang="zh-TW" altLang="en-US"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提</a:t>
            </a: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升系統操作介面的使用體驗，增加主題切換功能，並優化各功能模組的視覺呈現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D9CA6A5-FFDF-D395-0338-ABBB8EC842C8}"/>
              </a:ext>
            </a:extLst>
          </p:cNvPr>
          <p:cNvSpPr txBox="1">
            <a:spLocks/>
          </p:cNvSpPr>
          <p:nvPr/>
        </p:nvSpPr>
        <p:spPr>
          <a:xfrm>
            <a:off x="1142999" y="614100"/>
            <a:ext cx="3441700" cy="485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 sz="3600" b="1">
                <a:solidFill>
                  <a:srgbClr val="4CAF50"/>
                </a:solidFill>
              </a:defRPr>
            </a:pPr>
            <a:r>
              <a:rPr lang="zh-TW" altLang="en-US" sz="3600" b="1" dirty="0">
                <a:solidFill>
                  <a:srgbClr val="4CAF50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杰軒負責項目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60025" y="1860194"/>
            <a:ext cx="4572000" cy="22860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0033" y="2045845"/>
            <a:ext cx="1473480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>
                <a:latin typeface="芫荽" pitchFamily="2" charset="-120"/>
                <a:ea typeface="芫荽" pitchFamily="2" charset="-120"/>
                <a:cs typeface="芫荽" pitchFamily="2" charset="-120"/>
              </a:rPr>
              <a:t>API </a:t>
            </a: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優化重點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36274" y="2629982"/>
            <a:ext cx="2310248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提升資料傳輸效率</a:t>
            </a:r>
            <a:r>
              <a:rPr lang="zh-TW" altLang="en-US"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 </a:t>
            </a:r>
            <a:r>
              <a:rPr lang="en-US" altLang="zh-TW"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&amp;</a:t>
            </a:r>
            <a:r>
              <a:rPr lang="zh-TW" altLang="en-US"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 容錯率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536274" y="3143251"/>
            <a:ext cx="1556836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優化錯誤處理機制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36274" y="3618931"/>
            <a:ext cx="1899879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增強安全性與認證流程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59975" y="1860194"/>
            <a:ext cx="4572000" cy="2286000"/>
          </a:xfrm>
          <a:prstGeom prst="rect">
            <a:avLst/>
          </a:prstGeom>
          <a:solidFill>
            <a:srgbClr val="F9F9F9"/>
          </a:solidFill>
          <a:ln w="254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2323" y="1961066"/>
            <a:ext cx="1677062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跨系統整合目標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26735" y="2540265"/>
            <a:ext cx="1899879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建立統一資料交換標準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026735" y="2933841"/>
            <a:ext cx="1728358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實現系統間無縫連接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39165" y="3305891"/>
            <a:ext cx="1213794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降低維護成本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039165" y="3677941"/>
            <a:ext cx="1385316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提高系統擴展性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AA6228F-7DD7-C7CE-FA70-5394027F4EBE}"/>
              </a:ext>
            </a:extLst>
          </p:cNvPr>
          <p:cNvSpPr txBox="1">
            <a:spLocks/>
          </p:cNvSpPr>
          <p:nvPr/>
        </p:nvSpPr>
        <p:spPr>
          <a:xfrm>
            <a:off x="4375150" y="522047"/>
            <a:ext cx="3441700" cy="485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 sz="3600" b="1">
                <a:solidFill>
                  <a:srgbClr val="4CAF50"/>
                </a:solidFill>
              </a:defRPr>
            </a:pPr>
            <a:r>
              <a:rPr lang="zh-TW" altLang="en-US" sz="3600" b="1" dirty="0">
                <a:solidFill>
                  <a:srgbClr val="4CAF50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小組內</a:t>
            </a:r>
            <a:r>
              <a:rPr lang="en-US" altLang="zh-TW" sz="3600" b="1" dirty="0">
                <a:solidFill>
                  <a:srgbClr val="4CAF50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API</a:t>
            </a:r>
            <a:r>
              <a:rPr lang="zh-TW" altLang="en-US" sz="3600" b="1" dirty="0">
                <a:solidFill>
                  <a:srgbClr val="4CAF50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優化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BD0C3A-CC89-363F-4D79-0199E270AC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6489" y="4146194"/>
            <a:ext cx="2737574" cy="27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62000" y="1371600"/>
            <a:ext cx="4953000" cy="15240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412899"/>
            <a:ext cx="2316660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異常事件自動警示模組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92411" y="1941346"/>
            <a:ext cx="4987263" cy="502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開發自動偵測與通知系統異常事件的警示機制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，</a:t>
            </a:r>
            <a:endParaRPr lang="en-US"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提高系統問題的反應速度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，</a:t>
            </a:r>
            <a:r>
              <a:rPr lang="zh-TW" altLang="en-US"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搭配當前派報，</a:t>
            </a: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減少人工監控成本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77000" y="1371600"/>
            <a:ext cx="4953000" cy="15240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77000" y="1418010"/>
            <a:ext cx="2316660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設備健康度趨勢圖繪製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43639" y="1912346"/>
            <a:ext cx="3958135" cy="502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建立設備健康狀態監測與視覺化展示系統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，</a:t>
            </a:r>
            <a:endParaRPr lang="en-US"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協助維護人員預判設備狀態，提前安排維護作業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3048000"/>
            <a:ext cx="4953000" cy="15240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2000" y="3093234"/>
            <a:ext cx="2103461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預防性維護提醒機制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2411" y="3642640"/>
            <a:ext cx="4815742" cy="502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開發設備預防性維護排程與自動提醒系統，降低設備故障率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，</a:t>
            </a:r>
            <a:endParaRPr lang="en-US"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延長設備使用壽命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048000"/>
            <a:ext cx="4953000" cy="15240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77000" y="3105588"/>
            <a:ext cx="2316660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機台維修歷史查詢模組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38058" y="3734012"/>
            <a:ext cx="4815742" cy="502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開發設備維修記錄查詢系統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，</a:t>
            </a:r>
            <a:endParaRPr lang="en-US"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追蹤維修歷史與分析故障模式，協助技術人員快速診斷問題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4724400"/>
            <a:ext cx="4953000" cy="15240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92411" y="4771081"/>
            <a:ext cx="2529860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告警分級與權限通知設定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8200" y="5535452"/>
            <a:ext cx="3272050" cy="502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建立告警分級機制與權限管理系統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，</a:t>
            </a:r>
            <a:endParaRPr lang="en-US"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確保通知送達適當人員，提高處理效率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9F87AD3-F4A6-60EA-4203-DC7469929E7F}"/>
              </a:ext>
            </a:extLst>
          </p:cNvPr>
          <p:cNvSpPr txBox="1">
            <a:spLocks/>
          </p:cNvSpPr>
          <p:nvPr/>
        </p:nvSpPr>
        <p:spPr>
          <a:xfrm>
            <a:off x="4586086" y="459038"/>
            <a:ext cx="3029824" cy="485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solidFill>
                  <a:srgbClr val="4CAF50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監控與維護項目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43000" y="1371600"/>
            <a:ext cx="9906000" cy="15240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206413" y="1463549"/>
            <a:ext cx="3358612" cy="374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CAF50"/>
                </a:solidFill>
              </a:defRPr>
            </a:pP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操作介面</a:t>
            </a:r>
            <a:r>
              <a:rPr sz="1833" dirty="0">
                <a:latin typeface="芫荽" pitchFamily="2" charset="-120"/>
                <a:ea typeface="芫荽" pitchFamily="2" charset="-120"/>
                <a:cs typeface="芫荽" pitchFamily="2" charset="-120"/>
              </a:rPr>
              <a:t> (UI) </a:t>
            </a:r>
            <a:r>
              <a:rPr sz="18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優化與主題切換</a:t>
            </a:r>
            <a:endParaRPr sz="18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91072" y="1928288"/>
            <a:ext cx="7388561" cy="502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本項目旨在提升系統操作介面的使用體驗，增加主題切換功能，並優化各功能模組的視覺呈現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  <a:endParaRPr lang="en-US"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透過改善使用者介面，提高系統易用性與工作效率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200400"/>
            <a:ext cx="4572000" cy="609600"/>
          </a:xfrm>
          <a:prstGeom prst="rect">
            <a:avLst/>
          </a:prstGeom>
          <a:solidFill>
            <a:srgbClr val="F2F2F2"/>
          </a:solidFill>
          <a:ln w="127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91072" y="3349864"/>
            <a:ext cx="2472152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多主題支援（明亮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/</a:t>
            </a: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暗黑模式</a:t>
            </a:r>
            <a:r>
              <a:rPr sz="1333" dirty="0">
                <a:latin typeface="芫荽" pitchFamily="2" charset="-120"/>
                <a:ea typeface="芫荽" pitchFamily="2" charset="-120"/>
                <a:cs typeface="芫荽" pitchFamily="2" charset="-120"/>
              </a:rPr>
              <a:t>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3200400"/>
            <a:ext cx="4572000" cy="609600"/>
          </a:xfrm>
          <a:prstGeom prst="rect">
            <a:avLst/>
          </a:prstGeom>
          <a:solidFill>
            <a:srgbClr val="F2F2F2"/>
          </a:solidFill>
          <a:ln w="127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66765" y="3351856"/>
            <a:ext cx="1042273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響應式設計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143000" y="3962400"/>
            <a:ext cx="4572000" cy="609600"/>
          </a:xfrm>
          <a:prstGeom prst="rect">
            <a:avLst/>
          </a:prstGeom>
          <a:solidFill>
            <a:srgbClr val="F2F2F2"/>
          </a:solidFill>
          <a:ln w="127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06413" y="4114800"/>
            <a:ext cx="1385316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無障礙功能優化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96000" y="3962400"/>
            <a:ext cx="4572000" cy="609600"/>
          </a:xfrm>
          <a:prstGeom prst="rect">
            <a:avLst/>
          </a:prstGeom>
          <a:solidFill>
            <a:srgbClr val="F2F2F2"/>
          </a:solidFill>
          <a:ln w="12700">
            <a:solidFill>
              <a:srgbClr val="8BC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7386" y="4114800"/>
            <a:ext cx="1556836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儀表板視覺化改進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143000" y="4724400"/>
            <a:ext cx="9906000" cy="1371600"/>
          </a:xfrm>
          <a:prstGeom prst="rect">
            <a:avLst/>
          </a:prstGeom>
          <a:solidFill>
            <a:srgbClr val="F9F9F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84149" y="4816661"/>
            <a:ext cx="1037463" cy="3488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rPr sz="1667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預期效益</a:t>
            </a:r>
            <a:endParaRPr sz="1667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84149" y="5270260"/>
            <a:ext cx="2414444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提升使用者滿意度與操作效率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66765" y="5270260"/>
            <a:ext cx="1728358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降低新用戶學習曲線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84149" y="5659792"/>
            <a:ext cx="2242922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提高系統可用性與可訪問性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65189" y="5638800"/>
            <a:ext cx="1213794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sz="1333" dirty="0" err="1">
                <a:latin typeface="芫荽" pitchFamily="2" charset="-120"/>
                <a:ea typeface="芫荽" pitchFamily="2" charset="-120"/>
                <a:cs typeface="芫荽" pitchFamily="2" charset="-120"/>
              </a:rPr>
              <a:t>統一視覺風格</a:t>
            </a:r>
            <a:endParaRPr sz="1333" dirty="0">
              <a:latin typeface="芫荽" pitchFamily="2" charset="-120"/>
              <a:ea typeface="芫荽" pitchFamily="2" charset="-120"/>
              <a:cs typeface="芫荽" pitchFamily="2" charset="-120"/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14FB9150-09B5-8A75-B981-DEA581D78651}"/>
              </a:ext>
            </a:extLst>
          </p:cNvPr>
          <p:cNvSpPr txBox="1">
            <a:spLocks/>
          </p:cNvSpPr>
          <p:nvPr/>
        </p:nvSpPr>
        <p:spPr>
          <a:xfrm>
            <a:off x="4586086" y="459038"/>
            <a:ext cx="3029824" cy="485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solidFill>
                  <a:srgbClr val="4CAF50"/>
                </a:solidFill>
                <a:latin typeface="芫荽" pitchFamily="2" charset="-120"/>
                <a:ea typeface="芫荽" pitchFamily="2" charset="-120"/>
                <a:cs typeface="芫荽" pitchFamily="2" charset="-120"/>
              </a:rPr>
              <a:t>使用者介面說明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451</Words>
  <Application>Microsoft Office PowerPoint</Application>
  <PresentationFormat>寬螢幕</PresentationFormat>
  <Paragraphs>192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芫荽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睿穎負責項目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睿穎 詹</dc:creator>
  <cp:lastModifiedBy>睿穎 詹</cp:lastModifiedBy>
  <cp:revision>40</cp:revision>
  <dcterms:created xsi:type="dcterms:W3CDTF">2025-10-07T10:11:04Z</dcterms:created>
  <dcterms:modified xsi:type="dcterms:W3CDTF">2025-10-07T23:24:49Z</dcterms:modified>
</cp:coreProperties>
</file>