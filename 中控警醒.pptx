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3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D60AB6-62CA-4EB7-967F-AD7C072C9520}" type="datetimeFigureOut">
              <a:rPr lang="zh-TW" altLang="en-US" smtClean="0"/>
              <a:t>2025/10/7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8DD8F6-82F0-46FC-A7AF-86D8789891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9584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8DD8F6-82F0-46FC-A7AF-86D878989167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5435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9314A1-DFA2-4D79-A6E8-EE06CE1F66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F9C16FB-BCED-BE65-9650-9E4BAE8713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B97191D-9E25-9DB0-3D04-8F3B6E8C2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D8F4-6452-4BAD-8256-AA60B3005C24}" type="datetimeFigureOut">
              <a:rPr lang="zh-TW" altLang="en-US" smtClean="0"/>
              <a:t>2025/10/7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868E268-D01C-475B-454E-47232D419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834F3F8-0F1C-1D0D-611E-ECE8A9A4B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5204F-2984-4993-879A-131CC6B281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2362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D9A632-3E56-74A4-39BB-E1F81CE54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50F6AC-78A8-81FC-FABE-D66894A64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E5714B-CADE-A4DD-B572-4FCC61CFB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D8F4-6452-4BAD-8256-AA60B3005C24}" type="datetimeFigureOut">
              <a:rPr lang="zh-TW" altLang="en-US" smtClean="0"/>
              <a:t>2025/10/7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259B702-E10D-21B4-7E5C-C3BF35E35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1CCFA39-D83B-2642-F0F9-25E0B7D59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5204F-2984-4993-879A-131CC6B281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9075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436BB9-2B88-E2E3-9AF8-92DDD75E1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8403520-1064-4DEF-6B6E-4FF2AC211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621DDC3-F1BD-F73B-6C58-E445F9BFB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D8F4-6452-4BAD-8256-AA60B3005C24}" type="datetimeFigureOut">
              <a:rPr lang="zh-TW" altLang="en-US" smtClean="0"/>
              <a:t>2025/10/7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9289B1E-6371-246D-26A4-77697C5ED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B25A38D-67F5-059B-6D8E-9B91CC59D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5204F-2984-4993-879A-131CC6B281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924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9DA281-228B-F498-7CE2-7716719B7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CEC8C84-9523-549D-E087-454DA306E8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F8E5DE1-9607-3023-1FEB-5C4381C55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91EB258-220C-747C-FC47-3F1188295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D8F4-6452-4BAD-8256-AA60B3005C24}" type="datetimeFigureOut">
              <a:rPr lang="zh-TW" altLang="en-US" smtClean="0"/>
              <a:t>2025/10/7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5D3B671-AAC4-3C7B-A92C-96A907F79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F932E4B-EC50-CF44-AB9B-26FE5F96C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5204F-2984-4993-879A-131CC6B281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5132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753629-3586-A1FD-907D-A62DDF4A5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C08771D-2E6A-362E-1BCA-5F190CDF5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90ABEB7-BECF-7B73-A042-D1B3E05BC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653F3C1-4D23-E694-3950-DD804B666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7163397-9333-8A46-3CA7-C91CC4A37B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F17E476-DE0F-DDF7-DCAB-1ED8F6AE6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D8F4-6452-4BAD-8256-AA60B3005C24}" type="datetimeFigureOut">
              <a:rPr lang="zh-TW" altLang="en-US" smtClean="0"/>
              <a:t>2025/10/7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4349A9F-0B0F-4B40-F2A4-0FAE8CCB5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A938BF8-8F39-3D35-7E64-C8E0348C3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5204F-2984-4993-879A-131CC6B281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5343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837F69-83CD-A737-3589-CE969630A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F3B3136-5D36-9A16-82C1-B022D83A3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D8F4-6452-4BAD-8256-AA60B3005C24}" type="datetimeFigureOut">
              <a:rPr lang="zh-TW" altLang="en-US" smtClean="0"/>
              <a:t>2025/10/7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7E39D83-D7B8-009B-7E33-C9B77A535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0BB40BD-DB79-09C9-0F45-9C7BDB717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5204F-2984-4993-879A-131CC6B281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0496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1F473E8-44D2-481C-89B4-0EED5B9CF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D8F4-6452-4BAD-8256-AA60B3005C24}" type="datetimeFigureOut">
              <a:rPr lang="zh-TW" altLang="en-US" smtClean="0"/>
              <a:t>2025/10/7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CBE31D1-497A-26C7-D6A0-2DCAD6580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7AFA74-9049-0C5E-7FD6-32692D346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5204F-2984-4993-879A-131CC6B281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5027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38BE0E-1141-BEC8-B1A5-EF62F5A2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660B19-0C3E-CB27-6FBC-A6FC49582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5FC73DA-C947-EC7B-D237-58339A1AA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AB2A1F0-6730-6E60-EA74-0340598DC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D8F4-6452-4BAD-8256-AA60B3005C24}" type="datetimeFigureOut">
              <a:rPr lang="zh-TW" altLang="en-US" smtClean="0"/>
              <a:t>2025/10/7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A8D11EF-51F9-5789-4D9C-D6C056924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A2E36E0-1708-2937-0AB6-5C0AD875E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5204F-2984-4993-879A-131CC6B281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8841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2B9DCF-A0BB-6FBB-2F79-49812C9D3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645EFD4-D8E9-B6DC-7136-E45317572C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BEAB163-D7A2-AE5A-3F7D-417F9CEBE7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8550E38-F1DB-63DA-94E2-A97A22026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D8F4-6452-4BAD-8256-AA60B3005C24}" type="datetimeFigureOut">
              <a:rPr lang="zh-TW" altLang="en-US" smtClean="0"/>
              <a:t>2025/10/7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C1EBC7F-165D-49A8-4FFF-FDEDA9D41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D17BDA3-4281-023E-4BCC-99B5F54D8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5204F-2984-4993-879A-131CC6B281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1691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6DDD32-7D0B-094E-1578-57C9AC58C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EC4BDF9-CEC2-D7FF-9883-D5E0B239C8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47210B5-AA54-B601-203E-45BEA4150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D8F4-6452-4BAD-8256-AA60B3005C24}" type="datetimeFigureOut">
              <a:rPr lang="zh-TW" altLang="en-US" smtClean="0"/>
              <a:t>2025/10/7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BB22B1C-558E-1C44-4352-6B7010AA8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0C3EC0B-5862-530D-6625-A4EB00AF2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5204F-2984-4993-879A-131CC6B281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9917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46A1B8F-C066-A970-E3A1-078ACA0FDB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D644278-BFCE-3CE7-7EED-F253F4DD19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C8C6C00-9712-6249-29AF-418649FB2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D8F4-6452-4BAD-8256-AA60B3005C24}" type="datetimeFigureOut">
              <a:rPr lang="zh-TW" altLang="en-US" smtClean="0"/>
              <a:t>2025/10/7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79D3E2E-9CC3-0DC3-CF4D-0427A6ED0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C2D076A-E55B-BB89-0815-5F2181485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5204F-2984-4993-879A-131CC6B281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2528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19AD27F-0F55-0CD3-A433-28387879C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8388D0E-DE2B-CF1F-38E3-009C63C9E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55BA333-5A51-3C25-4F1E-E63855B508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8ED8F4-6452-4BAD-8256-AA60B3005C24}" type="datetimeFigureOut">
              <a:rPr lang="zh-TW" altLang="en-US" smtClean="0"/>
              <a:t>2025/10/7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8926444-8094-7CC9-2605-87EED00B6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BEE06D-271F-520B-A6A3-6755939F28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B5204F-2984-4993-879A-131CC6B281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3891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bin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33B55-BC34-D049-6B04-6410687BA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141A308E-D258-45A6-9298-FB5A4EF95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44" y="1008195"/>
            <a:ext cx="11033911" cy="543075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23F04BD-15AA-6E9D-336B-7FE6B75261BE}"/>
              </a:ext>
            </a:extLst>
          </p:cNvPr>
          <p:cNvSpPr/>
          <p:nvPr/>
        </p:nvSpPr>
        <p:spPr>
          <a:xfrm>
            <a:off x="4985820" y="368260"/>
            <a:ext cx="2220359" cy="404991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defTabSz="89040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當前中控警醒介面</a:t>
            </a:r>
          </a:p>
        </p:txBody>
      </p:sp>
    </p:spTree>
    <p:extLst>
      <p:ext uri="{BB962C8B-B14F-4D97-AF65-F5344CB8AC3E}">
        <p14:creationId xmlns:p14="http://schemas.microsoft.com/office/powerpoint/2010/main" val="3029845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63DD3-4F05-DC8B-9156-16795414D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F85AB501-DF02-2D84-45EA-4413EC34324C}"/>
              </a:ext>
            </a:extLst>
          </p:cNvPr>
          <p:cNvSpPr/>
          <p:nvPr/>
        </p:nvSpPr>
        <p:spPr>
          <a:xfrm>
            <a:off x="4322580" y="411218"/>
            <a:ext cx="3546837" cy="400110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defTabSz="89040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會有兩種形式</a:t>
            </a:r>
            <a:r>
              <a:rPr lang="en-US" altLang="zh-TW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 </a:t>
            </a: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In/Out &amp; WIP</a:t>
            </a:r>
            <a:endParaRPr kumimoji="0" lang="zh-TW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E820167-0E59-56BC-5E14-9760610EC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42" y="1174227"/>
            <a:ext cx="11002911" cy="54014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7692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23D29-9C39-111C-0B8E-14BA31B57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848C7E08-BB7D-B0F1-0366-39BC9F483C74}"/>
              </a:ext>
            </a:extLst>
          </p:cNvPr>
          <p:cNvSpPr/>
          <p:nvPr/>
        </p:nvSpPr>
        <p:spPr>
          <a:xfrm>
            <a:off x="2103973" y="584864"/>
            <a:ext cx="3581510" cy="400110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 defTabSz="890402"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顯示過往 </a:t>
            </a:r>
            <a:r>
              <a:rPr lang="en-US" altLang="zh-TW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In/Out </a:t>
            </a: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紀錄</a:t>
            </a: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(</a:t>
            </a: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折線圖</a:t>
            </a: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)</a:t>
            </a:r>
            <a:endParaRPr kumimoji="0" lang="zh-TW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AA958EB-436E-CF99-3318-5EAB9FB84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612" y="1327988"/>
            <a:ext cx="6988232" cy="454503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3E1E9BC-9486-1EF5-E80F-96E1418B7BDB}"/>
              </a:ext>
            </a:extLst>
          </p:cNvPr>
          <p:cNvSpPr/>
          <p:nvPr/>
        </p:nvSpPr>
        <p:spPr>
          <a:xfrm>
            <a:off x="8936478" y="584864"/>
            <a:ext cx="1762223" cy="400110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defTabSz="89040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即時機故上拋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00E0CC16-9780-C7E0-41F3-CE34D484A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9596" y="1327988"/>
            <a:ext cx="4344889" cy="45304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924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308D3-B962-B6C9-6030-87C96BB21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557B709F-209B-770A-ACC0-D5A64F262EA1}"/>
              </a:ext>
            </a:extLst>
          </p:cNvPr>
          <p:cNvSpPr/>
          <p:nvPr/>
        </p:nvSpPr>
        <p:spPr>
          <a:xfrm>
            <a:off x="2272738" y="427445"/>
            <a:ext cx="3243979" cy="400110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defTabSz="89040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顯示 </a:t>
            </a: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WIP </a:t>
            </a: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過往紀錄</a:t>
            </a: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(</a:t>
            </a: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折線圖</a:t>
            </a: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)</a:t>
            </a:r>
            <a:endParaRPr kumimoji="0" lang="zh-TW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268ED6C-7B37-F488-4E6A-CDC81088A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612" y="1327988"/>
            <a:ext cx="6988232" cy="454503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796FB31-52A5-6ACE-1481-44132485AECB}"/>
              </a:ext>
            </a:extLst>
          </p:cNvPr>
          <p:cNvSpPr/>
          <p:nvPr/>
        </p:nvSpPr>
        <p:spPr>
          <a:xfrm>
            <a:off x="8980928" y="394156"/>
            <a:ext cx="2268033" cy="400110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defTabSz="89040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過往搬運異常</a:t>
            </a: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上拋</a:t>
            </a:r>
          </a:p>
        </p:txBody>
      </p:sp>
    </p:spTree>
    <p:extLst>
      <p:ext uri="{BB962C8B-B14F-4D97-AF65-F5344CB8AC3E}">
        <p14:creationId xmlns:p14="http://schemas.microsoft.com/office/powerpoint/2010/main" val="3868322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8F912-036A-3525-684B-83DF9AC7D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7143379-F294-AC9D-2A1A-87EFAF686D3A}"/>
              </a:ext>
            </a:extLst>
          </p:cNvPr>
          <p:cNvSpPr/>
          <p:nvPr/>
        </p:nvSpPr>
        <p:spPr>
          <a:xfrm>
            <a:off x="546331" y="215600"/>
            <a:ext cx="3197186" cy="400110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defTabSz="89040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預計要做的項目 </a:t>
            </a: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&amp;</a:t>
            </a: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芫荽" pitchFamily="2" charset="-120"/>
                <a:ea typeface="芫荽" pitchFamily="2" charset="-120"/>
                <a:cs typeface="芫荽" pitchFamily="2" charset="-120"/>
              </a:rPr>
              <a:t> </a:t>
            </a:r>
            <a:r>
              <a:rPr lang="en-US" altLang="zh-TW" sz="2000" b="1" kern="0" dirty="0">
                <a:solidFill>
                  <a:prstClr val="black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Owner</a:t>
            </a:r>
            <a:endParaRPr kumimoji="0" lang="zh-TW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graphicFrame>
        <p:nvGraphicFramePr>
          <p:cNvPr id="11" name="Table 3">
            <a:extLst>
              <a:ext uri="{FF2B5EF4-FFF2-40B4-BE49-F238E27FC236}">
                <a16:creationId xmlns:a16="http://schemas.microsoft.com/office/drawing/2014/main" id="{7D5C1C55-F81A-F43C-D5C5-1C2E02EAF3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439346"/>
              </p:ext>
            </p:extLst>
          </p:nvPr>
        </p:nvGraphicFramePr>
        <p:xfrm>
          <a:off x="546331" y="810972"/>
          <a:ext cx="8229600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項目</a:t>
                      </a:r>
                      <a:endParaRPr sz="1400" b="1" dirty="0">
                        <a:solidFill>
                          <a:srgbClr val="FFFFFF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Owner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IN/OUT </a:t>
                      </a:r>
                      <a:r>
                        <a:rPr sz="1400" dirty="0" err="1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過往紀錄繪製</a:t>
                      </a:r>
                      <a:endParaRPr sz="1400" dirty="0">
                        <a:solidFill>
                          <a:srgbClr val="333333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 err="1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瑞寶</a:t>
                      </a:r>
                      <a:endParaRPr sz="1400" dirty="0">
                        <a:solidFill>
                          <a:srgbClr val="333333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WIP 過往紀錄繪製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 err="1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杰軒</a:t>
                      </a:r>
                      <a:endParaRPr sz="1400" dirty="0">
                        <a:solidFill>
                          <a:srgbClr val="333333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機故上拋API優化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杰軒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搬運監控上拋API優化</a:t>
                      </a:r>
                      <a:endParaRPr sz="1400" dirty="0">
                        <a:solidFill>
                          <a:srgbClr val="333333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 err="1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杰軒</a:t>
                      </a:r>
                      <a:endParaRPr sz="1400" dirty="0">
                        <a:solidFill>
                          <a:srgbClr val="333333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異常事件自動警示模組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瑞寶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設備健康度趨勢圖繪製</a:t>
                      </a:r>
                      <a:endParaRPr sz="1400" dirty="0">
                        <a:solidFill>
                          <a:srgbClr val="333333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 err="1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瑞寶</a:t>
                      </a:r>
                      <a:endParaRPr sz="1400" dirty="0">
                        <a:solidFill>
                          <a:srgbClr val="333333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預防性維護提醒機制</a:t>
                      </a:r>
                      <a:endParaRPr sz="1400" dirty="0">
                        <a:solidFill>
                          <a:srgbClr val="333333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 err="1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瑞寶</a:t>
                      </a:r>
                      <a:endParaRPr sz="1400" dirty="0">
                        <a:solidFill>
                          <a:srgbClr val="333333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自動報表產出與導出功能</a:t>
                      </a:r>
                      <a:endParaRPr sz="1400" dirty="0">
                        <a:solidFill>
                          <a:srgbClr val="333333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 err="1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杰軒</a:t>
                      </a:r>
                      <a:endParaRPr sz="1400" dirty="0">
                        <a:solidFill>
                          <a:srgbClr val="333333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跨系統 API 整合介面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睿穎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操作介面 (UI) 優化與主題切換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 err="1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杰軒</a:t>
                      </a:r>
                      <a:endParaRPr sz="1400" dirty="0">
                        <a:solidFill>
                          <a:srgbClr val="333333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歷史資料趨勢分析與統計圖</a:t>
                      </a:r>
                      <a:endParaRPr sz="1400" dirty="0">
                        <a:solidFill>
                          <a:srgbClr val="333333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睿穎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機台維修歷歷查詢模組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睿穎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告警分級與權限通知設定</a:t>
                      </a:r>
                      <a:endParaRPr sz="1400" dirty="0">
                        <a:solidFill>
                          <a:srgbClr val="333333"/>
                        </a:solidFill>
                        <a:latin typeface="芫荽" pitchFamily="2" charset="-120"/>
                        <a:ea typeface="芫荽" pitchFamily="2" charset="-120"/>
                        <a:cs typeface="芫荽" pitchFamily="2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333333"/>
                          </a:solidFill>
                          <a:latin typeface="芫荽" pitchFamily="2" charset="-120"/>
                          <a:ea typeface="芫荽" pitchFamily="2" charset="-120"/>
                          <a:cs typeface="芫荽" pitchFamily="2" charset="-120"/>
                        </a:rPr>
                        <a:t>睿穎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pic>
        <p:nvPicPr>
          <p:cNvPr id="13" name="圖片 12" descr="一張含有 卡通, 圖畫, 美工圖案, 圖解 的圖片&#10;&#10;AI 產生的內容可能不正確。">
            <a:extLst>
              <a:ext uri="{FF2B5EF4-FFF2-40B4-BE49-F238E27FC236}">
                <a16:creationId xmlns:a16="http://schemas.microsoft.com/office/drawing/2014/main" id="{48D7F49A-77F4-3D5B-3296-AF7D4C01E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2200" y="3200400"/>
            <a:ext cx="3962400" cy="3962400"/>
          </a:xfrm>
          <a:prstGeom prst="rect">
            <a:avLst/>
          </a:prstGeom>
        </p:spPr>
      </p:pic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D7FAFBAB-178F-6417-8657-816DDA22C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50" y="5078172"/>
            <a:ext cx="8572500" cy="178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224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2999" y="614100"/>
            <a:ext cx="3441700" cy="485775"/>
          </a:xfrm>
        </p:spPr>
        <p:txBody>
          <a:bodyPr>
            <a:normAutofit fontScale="90000"/>
          </a:bodyPr>
          <a:lstStyle/>
          <a:p>
            <a:pPr algn="ctr">
              <a:defRPr sz="3600" b="1">
                <a:solidFill>
                  <a:srgbClr val="4CAF50"/>
                </a:solidFill>
              </a:defRPr>
            </a:pPr>
            <a:r>
              <a:rPr lang="zh-TW" altLang="en-US" dirty="0">
                <a:latin typeface="芫荽" pitchFamily="2" charset="-120"/>
                <a:ea typeface="芫荽" pitchFamily="2" charset="-120"/>
                <a:cs typeface="芫荽" pitchFamily="2" charset="-120"/>
              </a:rPr>
              <a:t>睿穎負責項目</a:t>
            </a:r>
            <a:endParaRPr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43000" y="1371600"/>
            <a:ext cx="9906000" cy="914400"/>
          </a:xfrm>
          <a:prstGeom prst="rect">
            <a:avLst/>
          </a:prstGeom>
          <a:solidFill>
            <a:srgbClr val="F9F9F9"/>
          </a:solidFill>
          <a:ln w="25400">
            <a:solidFill>
              <a:srgbClr val="8BC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1457062"/>
            <a:ext cx="2393604" cy="374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CAF50"/>
                </a:solidFill>
              </a:defRPr>
            </a:pPr>
            <a:r>
              <a:rPr sz="18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跨系統</a:t>
            </a:r>
            <a:r>
              <a:rPr sz="1833" dirty="0">
                <a:latin typeface="芫荽" pitchFamily="2" charset="-120"/>
                <a:ea typeface="芫荽" pitchFamily="2" charset="-120"/>
                <a:cs typeface="芫荽" pitchFamily="2" charset="-120"/>
              </a:rPr>
              <a:t> API </a:t>
            </a:r>
            <a:r>
              <a:rPr sz="18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整合介面</a:t>
            </a:r>
            <a:endParaRPr sz="1833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1913927"/>
            <a:ext cx="793295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rPr sz="1500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開發不同系統間的</a:t>
            </a:r>
            <a:r>
              <a:rPr sz="1500" dirty="0">
                <a:latin typeface="芫荽" pitchFamily="2" charset="-120"/>
                <a:ea typeface="芫荽" pitchFamily="2" charset="-120"/>
                <a:cs typeface="芫荽" pitchFamily="2" charset="-120"/>
              </a:rPr>
              <a:t> API </a:t>
            </a:r>
            <a:r>
              <a:rPr sz="1500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整合介面，確保數據流通與系統互通性</a:t>
            </a:r>
            <a:endParaRPr sz="1500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43000" y="2514600"/>
            <a:ext cx="9906000" cy="914400"/>
          </a:xfrm>
          <a:prstGeom prst="rect">
            <a:avLst/>
          </a:prstGeom>
          <a:solidFill>
            <a:srgbClr val="F9F9F9"/>
          </a:solidFill>
          <a:ln w="25400">
            <a:solidFill>
              <a:srgbClr val="8BC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2585370"/>
            <a:ext cx="3518069" cy="374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CAF50"/>
                </a:solidFill>
              </a:defRPr>
            </a:pPr>
            <a:r>
              <a:rPr sz="18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歷史資料趨勢分析與統計圖</a:t>
            </a:r>
            <a:endParaRPr sz="1833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3039666"/>
            <a:ext cx="441659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rPr sz="1500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建立歷史數據分析功能，提供趨勢圖表與統計報告</a:t>
            </a:r>
            <a:endParaRPr sz="1500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43000" y="3657600"/>
            <a:ext cx="9906000" cy="914400"/>
          </a:xfrm>
          <a:prstGeom prst="rect">
            <a:avLst/>
          </a:prstGeom>
          <a:solidFill>
            <a:srgbClr val="F9F9F9"/>
          </a:solidFill>
          <a:ln w="25400">
            <a:solidFill>
              <a:srgbClr val="8BC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3000" y="3740067"/>
            <a:ext cx="2541080" cy="374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CAF50"/>
                </a:solidFill>
              </a:defRPr>
            </a:pPr>
            <a:r>
              <a:rPr sz="18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機台維修歷史查詢模組</a:t>
            </a:r>
            <a:endParaRPr sz="1833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3000" y="4181650"/>
            <a:ext cx="518603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rPr sz="1500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開發設備維修記錄查詢系統，追蹤維修歷史與分析故障模式</a:t>
            </a:r>
            <a:endParaRPr sz="1500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43000" y="4800600"/>
            <a:ext cx="9906000" cy="914400"/>
          </a:xfrm>
          <a:prstGeom prst="rect">
            <a:avLst/>
          </a:prstGeom>
          <a:solidFill>
            <a:srgbClr val="F9F9F9"/>
          </a:solidFill>
          <a:ln w="25400">
            <a:solidFill>
              <a:srgbClr val="8BC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43000" y="4902271"/>
            <a:ext cx="2776722" cy="374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CAF50"/>
                </a:solidFill>
              </a:defRPr>
            </a:pPr>
            <a:r>
              <a:rPr sz="18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告警分級與權限通知設定</a:t>
            </a:r>
            <a:endParaRPr sz="1833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42999" y="5324817"/>
            <a:ext cx="518603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rPr sz="1500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建立告警分級機制與權限管理系統，確保通知送達適當人員</a:t>
            </a:r>
            <a:endParaRPr sz="1500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43000" y="1371600"/>
            <a:ext cx="9906000" cy="914400"/>
          </a:xfrm>
          <a:prstGeom prst="rect">
            <a:avLst/>
          </a:prstGeom>
          <a:solidFill>
            <a:srgbClr val="F9F9F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71649" y="1454402"/>
            <a:ext cx="2501006" cy="374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CAF50"/>
                </a:solidFill>
              </a:defRPr>
            </a:pPr>
            <a:r>
              <a:rPr sz="1833" dirty="0">
                <a:latin typeface="芫荽" pitchFamily="2" charset="-120"/>
                <a:ea typeface="芫荽" pitchFamily="2" charset="-120"/>
                <a:cs typeface="芫荽" pitchFamily="2" charset="-120"/>
              </a:rPr>
              <a:t>IN/OUT </a:t>
            </a:r>
            <a:r>
              <a:rPr sz="18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過往紀錄</a:t>
            </a:r>
            <a:r>
              <a:rPr lang="zh-TW" altLang="en-US" sz="1833" dirty="0">
                <a:latin typeface="芫荽" pitchFamily="2" charset="-120"/>
                <a:ea typeface="芫荽" pitchFamily="2" charset="-120"/>
                <a:cs typeface="芫荽" pitchFamily="2" charset="-120"/>
              </a:rPr>
              <a:t>繪</a:t>
            </a:r>
            <a:r>
              <a:rPr sz="1833" dirty="0">
                <a:latin typeface="芫荽" pitchFamily="2" charset="-120"/>
                <a:ea typeface="芫荽" pitchFamily="2" charset="-120"/>
                <a:cs typeface="芫荽" pitchFamily="2" charset="-120"/>
              </a:rPr>
              <a:t>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1649" y="1875219"/>
            <a:ext cx="441659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rPr sz="1500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建立系統進出歷史數據視覺化圖表，提供趨勢分析</a:t>
            </a:r>
            <a:endParaRPr sz="1500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43000" y="2514600"/>
            <a:ext cx="9906000" cy="914400"/>
          </a:xfrm>
          <a:prstGeom prst="rect">
            <a:avLst/>
          </a:prstGeom>
          <a:solidFill>
            <a:srgbClr val="F9F9F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2999" y="2569855"/>
            <a:ext cx="2541080" cy="374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CAF50"/>
                </a:solidFill>
              </a:defRPr>
            </a:pPr>
            <a:r>
              <a:rPr sz="18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異常事件自動警示模組</a:t>
            </a:r>
            <a:endParaRPr sz="1833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2999" y="3020453"/>
            <a:ext cx="4031873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rPr sz="1500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開發自動偵測與通知系統異常事件的警示機制</a:t>
            </a:r>
            <a:endParaRPr sz="1500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43000" y="3657600"/>
            <a:ext cx="9906000" cy="914400"/>
          </a:xfrm>
          <a:prstGeom prst="rect">
            <a:avLst/>
          </a:prstGeom>
          <a:solidFill>
            <a:srgbClr val="F9F9F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66424" y="3755980"/>
            <a:ext cx="2541080" cy="374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CAF50"/>
                </a:solidFill>
              </a:defRPr>
            </a:pPr>
            <a:r>
              <a:rPr sz="18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設備健康度趨勢圖繪製</a:t>
            </a:r>
            <a:endParaRPr sz="1833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2999" y="4188213"/>
            <a:ext cx="3647152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rPr sz="1500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建立設備健康狀態監測與視覺化展示系統</a:t>
            </a:r>
            <a:endParaRPr sz="1500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43000" y="4800600"/>
            <a:ext cx="9906000" cy="914400"/>
          </a:xfrm>
          <a:prstGeom prst="rect">
            <a:avLst/>
          </a:prstGeom>
          <a:solidFill>
            <a:srgbClr val="F9F9F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66424" y="4854792"/>
            <a:ext cx="2305439" cy="374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CAF50"/>
                </a:solidFill>
              </a:defRPr>
            </a:pPr>
            <a:r>
              <a:rPr sz="18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預防性維護提醒機制</a:t>
            </a:r>
            <a:endParaRPr sz="1833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42999" y="5283382"/>
            <a:ext cx="3647152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rPr sz="1500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開發設備預防性維護排程與自動提醒系統</a:t>
            </a:r>
            <a:endParaRPr sz="1500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632E5EE-6721-A3E8-D394-153D31A36454}"/>
              </a:ext>
            </a:extLst>
          </p:cNvPr>
          <p:cNvSpPr txBox="1">
            <a:spLocks/>
          </p:cNvSpPr>
          <p:nvPr/>
        </p:nvSpPr>
        <p:spPr>
          <a:xfrm>
            <a:off x="1142999" y="614100"/>
            <a:ext cx="3441700" cy="485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3600" b="1">
                <a:solidFill>
                  <a:srgbClr val="4CAF50"/>
                </a:solidFill>
              </a:defRPr>
            </a:pPr>
            <a:r>
              <a:rPr lang="zh-TW" altLang="en-US" sz="3600" b="1" dirty="0">
                <a:solidFill>
                  <a:srgbClr val="4CAF50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瑞寶負責項目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66800" y="1270000"/>
            <a:ext cx="9906000" cy="838200"/>
          </a:xfrm>
          <a:prstGeom prst="rect">
            <a:avLst/>
          </a:prstGeom>
          <a:solidFill>
            <a:srgbClr val="F9F9F9"/>
          </a:solidFill>
          <a:ln w="25400">
            <a:solidFill>
              <a:srgbClr val="8BC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7237" y="1306971"/>
            <a:ext cx="1939955" cy="3488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CAF50"/>
                </a:solidFill>
              </a:defRPr>
            </a:pPr>
            <a:r>
              <a:rPr sz="1667" dirty="0">
                <a:latin typeface="芫荽" pitchFamily="2" charset="-120"/>
                <a:ea typeface="芫荽" pitchFamily="2" charset="-120"/>
                <a:cs typeface="芫荽" pitchFamily="2" charset="-120"/>
              </a:rPr>
              <a:t>WIP </a:t>
            </a:r>
            <a:r>
              <a:rPr sz="1667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過往紀錄縮製</a:t>
            </a:r>
            <a:endParaRPr sz="1667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9319" y="1703353"/>
            <a:ext cx="6926896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rPr sz="13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開發工作中產品</a:t>
            </a:r>
            <a:r>
              <a:rPr sz="1333" dirty="0">
                <a:latin typeface="芫荽" pitchFamily="2" charset="-120"/>
                <a:ea typeface="芫荽" pitchFamily="2" charset="-120"/>
                <a:cs typeface="芫荽" pitchFamily="2" charset="-120"/>
              </a:rPr>
              <a:t>(WIP)</a:t>
            </a:r>
            <a:r>
              <a:rPr sz="13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歷史數據的壓縮與整合功能，提升系統效能並優化儲存空間利用率</a:t>
            </a:r>
            <a:r>
              <a:rPr sz="1333" dirty="0">
                <a:latin typeface="芫荽" pitchFamily="2" charset="-120"/>
                <a:ea typeface="芫荽" pitchFamily="2" charset="-120"/>
                <a:cs typeface="芫荽" pitchFamily="2" charset="-120"/>
              </a:rPr>
              <a:t>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6800" y="2260600"/>
            <a:ext cx="9906000" cy="838200"/>
          </a:xfrm>
          <a:prstGeom prst="rect">
            <a:avLst/>
          </a:prstGeom>
          <a:solidFill>
            <a:srgbClr val="F9F9F9"/>
          </a:solidFill>
          <a:ln w="25400">
            <a:solidFill>
              <a:srgbClr val="8BC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6799" y="2282122"/>
            <a:ext cx="1975221" cy="3488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CAF50"/>
                </a:solidFill>
              </a:defRPr>
            </a:pPr>
            <a:r>
              <a:rPr lang="zh-TW" altLang="en-US" sz="1667" dirty="0">
                <a:latin typeface="芫荽" pitchFamily="2" charset="-120"/>
                <a:ea typeface="芫荽" pitchFamily="2" charset="-120"/>
                <a:cs typeface="芫荽" pitchFamily="2" charset="-120"/>
              </a:rPr>
              <a:t>機</a:t>
            </a:r>
            <a:r>
              <a:rPr sz="1667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故上拋</a:t>
            </a:r>
            <a:r>
              <a:rPr sz="1667" dirty="0">
                <a:latin typeface="芫荽" pitchFamily="2" charset="-120"/>
                <a:ea typeface="芫荽" pitchFamily="2" charset="-120"/>
                <a:cs typeface="芫荽" pitchFamily="2" charset="-120"/>
              </a:rPr>
              <a:t> API </a:t>
            </a:r>
            <a:r>
              <a:rPr sz="1667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優化</a:t>
            </a:r>
            <a:endParaRPr sz="1667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799" y="2703106"/>
            <a:ext cx="6936514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rPr lang="zh-TW" altLang="en-US" sz="1333" dirty="0">
                <a:latin typeface="芫荽" pitchFamily="2" charset="-120"/>
                <a:ea typeface="芫荽" pitchFamily="2" charset="-120"/>
                <a:cs typeface="芫荽" pitchFamily="2" charset="-120"/>
              </a:rPr>
              <a:t>重</a:t>
            </a:r>
            <a:r>
              <a:rPr sz="13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構機器故障數據上傳API，提升傳輸效率、強化錯誤處理機制，並實現標準化API文檔</a:t>
            </a:r>
            <a:r>
              <a:rPr sz="1333" dirty="0">
                <a:latin typeface="芫荽" pitchFamily="2" charset="-120"/>
                <a:ea typeface="芫荽" pitchFamily="2" charset="-120"/>
                <a:cs typeface="芫荽" pitchFamily="2" charset="-120"/>
              </a:rPr>
              <a:t>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6800" y="3251199"/>
            <a:ext cx="9906000" cy="838200"/>
          </a:xfrm>
          <a:prstGeom prst="rect">
            <a:avLst/>
          </a:prstGeom>
          <a:solidFill>
            <a:srgbClr val="F9F9F9"/>
          </a:solidFill>
          <a:ln w="25400">
            <a:solidFill>
              <a:srgbClr val="8BC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6799" y="3273065"/>
            <a:ext cx="2401619" cy="3488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CAF50"/>
                </a:solidFill>
              </a:defRPr>
            </a:pPr>
            <a:r>
              <a:rPr sz="1667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搬運監控上拋</a:t>
            </a:r>
            <a:r>
              <a:rPr sz="1667" dirty="0">
                <a:latin typeface="芫荽" pitchFamily="2" charset="-120"/>
                <a:ea typeface="芫荽" pitchFamily="2" charset="-120"/>
                <a:cs typeface="芫荽" pitchFamily="2" charset="-120"/>
              </a:rPr>
              <a:t> API </a:t>
            </a:r>
            <a:r>
              <a:rPr sz="1667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優化</a:t>
            </a:r>
            <a:endParaRPr sz="1667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6799" y="3703436"/>
            <a:ext cx="6187912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rPr sz="13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優化物料搬運監控數據傳輸介面，增強安全性與認證流程，提高數據傳輸效率</a:t>
            </a:r>
            <a:r>
              <a:rPr sz="1333" dirty="0">
                <a:latin typeface="芫荽" pitchFamily="2" charset="-120"/>
                <a:ea typeface="芫荽" pitchFamily="2" charset="-120"/>
                <a:cs typeface="芫荽" pitchFamily="2" charset="-120"/>
              </a:rPr>
              <a:t>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6800" y="4241800"/>
            <a:ext cx="9906000" cy="838200"/>
          </a:xfrm>
          <a:prstGeom prst="rect">
            <a:avLst/>
          </a:prstGeom>
          <a:solidFill>
            <a:srgbClr val="F9F9F9"/>
          </a:solidFill>
          <a:ln w="25400">
            <a:solidFill>
              <a:srgbClr val="8BC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7237" y="4241866"/>
            <a:ext cx="2529860" cy="3488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CAF50"/>
                </a:solidFill>
              </a:defRPr>
            </a:pPr>
            <a:r>
              <a:rPr sz="1667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自動報表產出與導出功能</a:t>
            </a:r>
            <a:endParaRPr sz="1667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66799" y="4635566"/>
            <a:ext cx="6359433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rPr sz="13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開發自動化報表生成系統，支援多種格式導出，並實現定時產出與自動分發功能</a:t>
            </a:r>
            <a:r>
              <a:rPr sz="1333" dirty="0">
                <a:latin typeface="芫荽" pitchFamily="2" charset="-120"/>
                <a:ea typeface="芫荽" pitchFamily="2" charset="-120"/>
                <a:cs typeface="芫荽" pitchFamily="2" charset="-120"/>
              </a:rPr>
              <a:t>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6800" y="5232400"/>
            <a:ext cx="9906000" cy="838200"/>
          </a:xfrm>
          <a:prstGeom prst="rect">
            <a:avLst/>
          </a:prstGeom>
          <a:solidFill>
            <a:srgbClr val="F9F9F9"/>
          </a:solidFill>
          <a:ln w="25400">
            <a:solidFill>
              <a:srgbClr val="8BC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57237" y="5217017"/>
            <a:ext cx="3063659" cy="3488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CAF50"/>
                </a:solidFill>
              </a:defRPr>
            </a:pPr>
            <a:r>
              <a:rPr sz="1667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操作介面</a:t>
            </a:r>
            <a:r>
              <a:rPr sz="1667" dirty="0">
                <a:latin typeface="芫荽" pitchFamily="2" charset="-120"/>
                <a:ea typeface="芫荽" pitchFamily="2" charset="-120"/>
                <a:cs typeface="芫荽" pitchFamily="2" charset="-120"/>
              </a:rPr>
              <a:t> (UI) </a:t>
            </a:r>
            <a:r>
              <a:rPr sz="1667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優化與主題切換</a:t>
            </a:r>
            <a:endParaRPr sz="1667" dirty="0"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57237" y="5669520"/>
            <a:ext cx="6530955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rPr lang="zh-TW" altLang="en-US" sz="1333" dirty="0">
                <a:latin typeface="芫荽" pitchFamily="2" charset="-120"/>
                <a:ea typeface="芫荽" pitchFamily="2" charset="-120"/>
                <a:cs typeface="芫荽" pitchFamily="2" charset="-120"/>
              </a:rPr>
              <a:t>提</a:t>
            </a:r>
            <a:r>
              <a:rPr sz="1333" dirty="0" err="1">
                <a:latin typeface="芫荽" pitchFamily="2" charset="-120"/>
                <a:ea typeface="芫荽" pitchFamily="2" charset="-120"/>
                <a:cs typeface="芫荽" pitchFamily="2" charset="-120"/>
              </a:rPr>
              <a:t>升系統操作介面的使用體驗，增加主題切換功能，並優化各功能模組的視覺呈現</a:t>
            </a:r>
            <a:r>
              <a:rPr sz="1333" dirty="0">
                <a:latin typeface="芫荽" pitchFamily="2" charset="-120"/>
                <a:ea typeface="芫荽" pitchFamily="2" charset="-120"/>
                <a:cs typeface="芫荽" pitchFamily="2" charset="-120"/>
              </a:rPr>
              <a:t>。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D9CA6A5-FFDF-D395-0338-ABBB8EC842C8}"/>
              </a:ext>
            </a:extLst>
          </p:cNvPr>
          <p:cNvSpPr txBox="1">
            <a:spLocks/>
          </p:cNvSpPr>
          <p:nvPr/>
        </p:nvSpPr>
        <p:spPr>
          <a:xfrm>
            <a:off x="1142999" y="614100"/>
            <a:ext cx="3441700" cy="485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3600" b="1">
                <a:solidFill>
                  <a:srgbClr val="4CAF50"/>
                </a:solidFill>
              </a:defRPr>
            </a:pPr>
            <a:r>
              <a:rPr lang="zh-TW" altLang="en-US" sz="3600" b="1" dirty="0">
                <a:solidFill>
                  <a:srgbClr val="4CAF50"/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杰軒負責項目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4CAF50"/>
                </a:solidFill>
              </a:defRPr>
            </a:pPr>
            <a:r>
              <a:rPr dirty="0"/>
              <a:t>API </a:t>
            </a:r>
            <a:r>
              <a:rPr dirty="0" err="1"/>
              <a:t>相關項目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1047751" y="3259410"/>
            <a:ext cx="4572000" cy="2286000"/>
          </a:xfrm>
          <a:prstGeom prst="rect">
            <a:avLst/>
          </a:prstGeom>
          <a:solidFill>
            <a:srgbClr val="F9F9F9"/>
          </a:solidFill>
          <a:ln w="25400">
            <a:solidFill>
              <a:srgbClr val="8BC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5" name="TextBox 4"/>
          <p:cNvSpPr txBox="1"/>
          <p:nvPr/>
        </p:nvSpPr>
        <p:spPr>
          <a:xfrm>
            <a:off x="1295400" y="3352800"/>
            <a:ext cx="1406154" cy="579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2000" b="1">
                <a:solidFill>
                  <a:srgbClr val="4CAF50"/>
                </a:solidFill>
              </a:defRPr>
            </a:pPr>
            <a:r>
              <a:rPr sz="1667"/>
              <a:t>API 優化重點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3810000"/>
            <a:ext cx="1556836" cy="5282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sz="1333"/>
              <a:t>提升資料傳輸效率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4191000"/>
            <a:ext cx="1556836" cy="5282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sz="1333"/>
              <a:t>優化錯誤處理機制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0" y="4572000"/>
            <a:ext cx="1899879" cy="5282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sz="1333"/>
              <a:t>增強安全性與認證流程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" y="4953000"/>
            <a:ext cx="1358064" cy="5282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sz="1333"/>
              <a:t>標準化 API 文檔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77000" y="3200400"/>
            <a:ext cx="4572000" cy="2286000"/>
          </a:xfrm>
          <a:prstGeom prst="rect">
            <a:avLst/>
          </a:prstGeom>
          <a:solidFill>
            <a:srgbClr val="F9F9F9"/>
          </a:solidFill>
          <a:ln w="25400">
            <a:solidFill>
              <a:srgbClr val="8BC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1" name="TextBox 10"/>
          <p:cNvSpPr txBox="1"/>
          <p:nvPr/>
        </p:nvSpPr>
        <p:spPr>
          <a:xfrm>
            <a:off x="6629400" y="3352800"/>
            <a:ext cx="1677062" cy="579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2000" b="1">
                <a:solidFill>
                  <a:srgbClr val="4CAF50"/>
                </a:solidFill>
              </a:defRPr>
            </a:pPr>
            <a:r>
              <a:rPr sz="1667"/>
              <a:t>跨系統整合目標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810000"/>
            <a:ext cx="1899879" cy="5282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 dirty="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sz="1333" dirty="0" err="1"/>
              <a:t>建立統一資料交換標準</a:t>
            </a:r>
            <a:endParaRPr sz="1333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00" y="4191000"/>
            <a:ext cx="1728358" cy="5282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sz="1333"/>
              <a:t>實現系統間無縫連接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572000"/>
            <a:ext cx="1213794" cy="5282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sz="1333"/>
              <a:t>降低維護成本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953000"/>
            <a:ext cx="1385316" cy="5282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sz="1333"/>
              <a:t>提高系統擴展性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4CAF50"/>
                </a:solidFill>
              </a:defRPr>
            </a:pPr>
            <a:r>
              <a:t>監控與維護項目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1371600"/>
            <a:ext cx="4953000" cy="1524000"/>
          </a:xfrm>
          <a:prstGeom prst="rect">
            <a:avLst/>
          </a:prstGeom>
          <a:solidFill>
            <a:srgbClr val="F9F9F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4" name="TextBox 3"/>
          <p:cNvSpPr txBox="1"/>
          <p:nvPr/>
        </p:nvSpPr>
        <p:spPr>
          <a:xfrm>
            <a:off x="914400" y="1447800"/>
            <a:ext cx="2316660" cy="579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2000" b="1">
                <a:solidFill>
                  <a:srgbClr val="4CAF50"/>
                </a:solidFill>
              </a:defRPr>
            </a:pPr>
            <a:r>
              <a:rPr sz="1667"/>
              <a:t>異常事件自動警示模組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52600"/>
            <a:ext cx="133882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sz="1500"/>
              <a:t>負責人：瑞寶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1" y="2057400"/>
            <a:ext cx="7388561" cy="5282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sz="1333"/>
              <a:t>開發自動偵測與通知系統異常事件的警示機制，提高系統問題的反應速度，減少人工監控成本。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77000" y="1371600"/>
            <a:ext cx="4953000" cy="1524000"/>
          </a:xfrm>
          <a:prstGeom prst="rect">
            <a:avLst/>
          </a:prstGeom>
          <a:solidFill>
            <a:srgbClr val="F9F9F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8" name="TextBox 7"/>
          <p:cNvSpPr txBox="1"/>
          <p:nvPr/>
        </p:nvSpPr>
        <p:spPr>
          <a:xfrm>
            <a:off x="6629400" y="1447800"/>
            <a:ext cx="2316660" cy="579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2000" b="1">
                <a:solidFill>
                  <a:srgbClr val="4CAF50"/>
                </a:solidFill>
              </a:defRPr>
            </a:pPr>
            <a:r>
              <a:rPr sz="1667"/>
              <a:t>設備健康度趨勢圖繪製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752600"/>
            <a:ext cx="133882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sz="1500"/>
              <a:t>負責人：瑞寶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057400"/>
            <a:ext cx="7217040" cy="5282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sz="1333"/>
              <a:t>建立設備健康狀態監測與視覺化展示系統，協助維護人員預判設備狀態，提前安排維護作業。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3048000"/>
            <a:ext cx="4953000" cy="1524000"/>
          </a:xfrm>
          <a:prstGeom prst="rect">
            <a:avLst/>
          </a:prstGeom>
          <a:solidFill>
            <a:srgbClr val="F9F9F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2" name="TextBox 11"/>
          <p:cNvSpPr txBox="1"/>
          <p:nvPr/>
        </p:nvSpPr>
        <p:spPr>
          <a:xfrm>
            <a:off x="914401" y="3124200"/>
            <a:ext cx="2103461" cy="579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2000" b="1">
                <a:solidFill>
                  <a:srgbClr val="4CAF50"/>
                </a:solidFill>
              </a:defRPr>
            </a:pPr>
            <a:r>
              <a:rPr sz="1667"/>
              <a:t>預防性維護提醒機制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133882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sz="1500"/>
              <a:t>負責人：瑞寶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33800"/>
            <a:ext cx="6359433" cy="5282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sz="1333"/>
              <a:t>開發設備預防性維護排程與自動提醒系統，降低設備故障率，延長設備使用壽命。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77000" y="3048000"/>
            <a:ext cx="4953000" cy="1524000"/>
          </a:xfrm>
          <a:prstGeom prst="rect">
            <a:avLst/>
          </a:prstGeom>
          <a:solidFill>
            <a:srgbClr val="F9F9F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6" name="TextBox 15"/>
          <p:cNvSpPr txBox="1"/>
          <p:nvPr/>
        </p:nvSpPr>
        <p:spPr>
          <a:xfrm>
            <a:off x="6629400" y="3124200"/>
            <a:ext cx="2316660" cy="579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2000" b="1">
                <a:solidFill>
                  <a:srgbClr val="4CAF50"/>
                </a:solidFill>
              </a:defRPr>
            </a:pPr>
            <a:r>
              <a:rPr sz="1667"/>
              <a:t>機台維修歷史查詢模組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429000"/>
            <a:ext cx="133882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sz="1500"/>
              <a:t>負責人：睿穎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733800"/>
            <a:ext cx="7045518" cy="5282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sz="1333"/>
              <a:t>開發設備維修記錄查詢系統，追蹤維修歷史與分析故障模式，協助技術人員快速診斷問題。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2000" y="4724400"/>
            <a:ext cx="4953000" cy="1524000"/>
          </a:xfrm>
          <a:prstGeom prst="rect">
            <a:avLst/>
          </a:prstGeom>
          <a:solidFill>
            <a:srgbClr val="F9F9F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0" name="TextBox 19"/>
          <p:cNvSpPr txBox="1"/>
          <p:nvPr/>
        </p:nvSpPr>
        <p:spPr>
          <a:xfrm>
            <a:off x="914400" y="4800600"/>
            <a:ext cx="2529860" cy="579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2000" b="1">
                <a:solidFill>
                  <a:srgbClr val="4CAF50"/>
                </a:solidFill>
              </a:defRPr>
            </a:pPr>
            <a:r>
              <a:rPr sz="1667"/>
              <a:t>告警分級與權限通知設定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05400"/>
            <a:ext cx="133882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sz="1500"/>
              <a:t>負責人：睿穎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1" y="5410200"/>
            <a:ext cx="6016391" cy="5282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sz="1333"/>
              <a:t>建立告警分級機制與權限管理系統，確保通知送達適當人員，提高處理效率。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4CAF50"/>
                </a:solidFill>
              </a:defRPr>
            </a:pPr>
            <a:r>
              <a:t>使用者介面項目</a:t>
            </a:r>
          </a:p>
        </p:txBody>
      </p:sp>
      <p:sp>
        <p:nvSpPr>
          <p:cNvPr id="3" name="Rectangle 2"/>
          <p:cNvSpPr/>
          <p:nvPr/>
        </p:nvSpPr>
        <p:spPr>
          <a:xfrm>
            <a:off x="1143000" y="1371600"/>
            <a:ext cx="9906000" cy="1524000"/>
          </a:xfrm>
          <a:prstGeom prst="rect">
            <a:avLst/>
          </a:prstGeom>
          <a:solidFill>
            <a:srgbClr val="F9F9F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4" name="TextBox 3"/>
          <p:cNvSpPr txBox="1"/>
          <p:nvPr/>
        </p:nvSpPr>
        <p:spPr>
          <a:xfrm>
            <a:off x="1295400" y="1524000"/>
            <a:ext cx="3243196" cy="605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2200" b="1">
                <a:solidFill>
                  <a:srgbClr val="4CAF50"/>
                </a:solidFill>
              </a:defRPr>
            </a:pPr>
            <a:r>
              <a:rPr sz="1833"/>
              <a:t>操作介面 (UI) 優化與主題切換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5400" y="1828800"/>
            <a:ext cx="133882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sz="1500"/>
              <a:t>負責人：杰軒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5400" y="2133600"/>
            <a:ext cx="11333552" cy="5282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sz="1333"/>
              <a:t>本項目旨在提升系統操作介面的使用體驗，增加主題切換功能，並優化各功能模組的視覺呈現。透過改善使用者介面，提高系統易用性與工作效率。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3200400"/>
            <a:ext cx="4572000" cy="609600"/>
          </a:xfrm>
          <a:prstGeom prst="rect">
            <a:avLst/>
          </a:prstGeom>
          <a:solidFill>
            <a:srgbClr val="F2F2F2"/>
          </a:solidFill>
          <a:ln w="12700">
            <a:solidFill>
              <a:srgbClr val="8BC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8" name="TextBox 7"/>
          <p:cNvSpPr txBox="1"/>
          <p:nvPr/>
        </p:nvSpPr>
        <p:spPr>
          <a:xfrm>
            <a:off x="1295400" y="3352800"/>
            <a:ext cx="2472152" cy="5282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sz="1333"/>
              <a:t>多主題支援（明亮/暗黑模式）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0" y="3200400"/>
            <a:ext cx="4572000" cy="609600"/>
          </a:xfrm>
          <a:prstGeom prst="rect">
            <a:avLst/>
          </a:prstGeom>
          <a:solidFill>
            <a:srgbClr val="F2F2F2"/>
          </a:solidFill>
          <a:ln w="12700">
            <a:solidFill>
              <a:srgbClr val="8BC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0" name="TextBox 9"/>
          <p:cNvSpPr txBox="1"/>
          <p:nvPr/>
        </p:nvSpPr>
        <p:spPr>
          <a:xfrm>
            <a:off x="6248400" y="3352800"/>
            <a:ext cx="1042273" cy="5282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sz="1333"/>
              <a:t>響應式設計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3962400"/>
            <a:ext cx="4572000" cy="609600"/>
          </a:xfrm>
          <a:prstGeom prst="rect">
            <a:avLst/>
          </a:prstGeom>
          <a:solidFill>
            <a:srgbClr val="F2F2F2"/>
          </a:solidFill>
          <a:ln w="12700">
            <a:solidFill>
              <a:srgbClr val="8BC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2" name="TextBox 11"/>
          <p:cNvSpPr txBox="1"/>
          <p:nvPr/>
        </p:nvSpPr>
        <p:spPr>
          <a:xfrm>
            <a:off x="1295400" y="4114800"/>
            <a:ext cx="1385316" cy="5282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sz="1333"/>
              <a:t>無障礙功能優化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0" y="3962400"/>
            <a:ext cx="4572000" cy="609600"/>
          </a:xfrm>
          <a:prstGeom prst="rect">
            <a:avLst/>
          </a:prstGeom>
          <a:solidFill>
            <a:srgbClr val="F2F2F2"/>
          </a:solidFill>
          <a:ln w="12700">
            <a:solidFill>
              <a:srgbClr val="8BC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4" name="TextBox 13"/>
          <p:cNvSpPr txBox="1"/>
          <p:nvPr/>
        </p:nvSpPr>
        <p:spPr>
          <a:xfrm>
            <a:off x="6248400" y="4114800"/>
            <a:ext cx="1556836" cy="5282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sz="1333"/>
              <a:t>儀表板視覺化改進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4724400"/>
            <a:ext cx="9906000" cy="1371600"/>
          </a:xfrm>
          <a:prstGeom prst="rect">
            <a:avLst/>
          </a:prstGeom>
          <a:solidFill>
            <a:srgbClr val="F9F9F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6" name="TextBox 15"/>
          <p:cNvSpPr txBox="1"/>
          <p:nvPr/>
        </p:nvSpPr>
        <p:spPr>
          <a:xfrm>
            <a:off x="1295400" y="4876800"/>
            <a:ext cx="1037463" cy="579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2000" b="1">
                <a:solidFill>
                  <a:srgbClr val="4CAF50"/>
                </a:solidFill>
              </a:defRPr>
            </a:pPr>
            <a:r>
              <a:rPr sz="1667"/>
              <a:t>預期效益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" y="5257800"/>
            <a:ext cx="2414444" cy="5282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sz="1333"/>
              <a:t>提升使用者滿意度與操作效率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0" y="5257800"/>
            <a:ext cx="1728358" cy="5282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sz="1333"/>
              <a:t>降低新用戶學習曲線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0" y="5638800"/>
            <a:ext cx="2242922" cy="5282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sz="1333"/>
              <a:t>提高系統可用性與可訪問性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0" y="5638800"/>
            <a:ext cx="2414444" cy="5282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sz="1333"/>
              <a:t>統一視覺風格，提升品牌形象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4CAF50"/>
                </a:solidFill>
              </a:defRPr>
            </a:pPr>
            <a:r>
              <a:t>項目分配總結</a:t>
            </a:r>
          </a:p>
        </p:txBody>
      </p:sp>
      <p:sp>
        <p:nvSpPr>
          <p:cNvPr id="3" name="Rectangle 2"/>
          <p:cNvSpPr/>
          <p:nvPr/>
        </p:nvSpPr>
        <p:spPr>
          <a:xfrm>
            <a:off x="1143000" y="1371600"/>
            <a:ext cx="4572000" cy="2286000"/>
          </a:xfrm>
          <a:prstGeom prst="rect">
            <a:avLst/>
          </a:prstGeom>
          <a:solidFill>
            <a:srgbClr val="F9F9F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4" name="TextBox 3"/>
          <p:cNvSpPr txBox="1"/>
          <p:nvPr/>
        </p:nvSpPr>
        <p:spPr>
          <a:xfrm>
            <a:off x="1295400" y="1524000"/>
            <a:ext cx="1598515" cy="605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2200" b="1">
                <a:solidFill>
                  <a:srgbClr val="4CAF50"/>
                </a:solidFill>
              </a:defRPr>
            </a:pPr>
            <a:r>
              <a:rPr sz="1833"/>
              <a:t>項目分配概況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5401" y="1905000"/>
            <a:ext cx="9688871" cy="8616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sz="1333"/>
              <a:t>本次專案共有 13 個開發項目，分配給 3 位開發人員負責。項目類型包含API 優化、監控系統、數據分析與 UI 改進等多個面向。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rPr sz="1333"/>
              <a:t>瑞寶主要負責監控與警示相關項目，杰軒專注於 API 優化與 UI 改進，睿穎則負責跨系統整合與數據分析。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77000" y="1371600"/>
            <a:ext cx="4572000" cy="2286000"/>
          </a:xfrm>
          <a:prstGeom prst="rect">
            <a:avLst/>
          </a:prstGeom>
          <a:solidFill>
            <a:srgbClr val="F9F9F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" name="TextBox 6"/>
          <p:cNvSpPr txBox="1"/>
          <p:nvPr/>
        </p:nvSpPr>
        <p:spPr>
          <a:xfrm>
            <a:off x="6629400" y="1524000"/>
            <a:ext cx="1127232" cy="605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2200" b="1">
                <a:solidFill>
                  <a:srgbClr val="4CAF50"/>
                </a:solidFill>
              </a:defRPr>
            </a:pPr>
            <a:r>
              <a:rPr sz="1833"/>
              <a:t>後續步驟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286000"/>
            <a:ext cx="2932213" cy="5282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sz="1333"/>
              <a:t>1. 各負責人確認項目時程與優先順序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1" y="2667000"/>
            <a:ext cx="2074607" cy="5282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sz="1333"/>
              <a:t>2. 建立每週進度追蹤機制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1" y="3048000"/>
            <a:ext cx="1903085" cy="5282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sz="1333"/>
              <a:t>3. 安排跨團隊協作會議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429000"/>
            <a:ext cx="2760692" cy="5282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sz="1333"/>
              <a:t>4. 定期檢視項目完成度與資源分配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962400"/>
            <a:ext cx="7042312" cy="5282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500"/>
          </a:p>
          <a:p>
            <a:pPr algn="ctr">
              <a:defRPr sz="1600" i="1">
                <a:solidFill>
                  <a:srgbClr val="333333"/>
                </a:solidFill>
              </a:defRPr>
            </a:pPr>
            <a:r>
              <a:rPr sz="1333"/>
              <a:t>項目分配統計圖表將在此處顯示，包含各開發人員負責項目數量與項目類型分布。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341</Words>
  <Application>Microsoft Office PowerPoint</Application>
  <PresentationFormat>寬螢幕</PresentationFormat>
  <Paragraphs>160</Paragraphs>
  <Slides>12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芫荽</vt:lpstr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睿穎負責項目</vt:lpstr>
      <vt:lpstr>PowerPoint 簡報</vt:lpstr>
      <vt:lpstr>PowerPoint 簡報</vt:lpstr>
      <vt:lpstr>API 相關項目</vt:lpstr>
      <vt:lpstr>監控與維護項目</vt:lpstr>
      <vt:lpstr>使用者介面項目</vt:lpstr>
      <vt:lpstr>項目分配總結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睿穎 詹</dc:creator>
  <cp:lastModifiedBy>睿穎 詹</cp:lastModifiedBy>
  <cp:revision>26</cp:revision>
  <dcterms:created xsi:type="dcterms:W3CDTF">2025-10-07T10:11:04Z</dcterms:created>
  <dcterms:modified xsi:type="dcterms:W3CDTF">2025-10-07T14:25:14Z</dcterms:modified>
</cp:coreProperties>
</file>